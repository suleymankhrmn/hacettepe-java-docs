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84"/>
  </p:normalViewPr>
  <p:slideViewPr>
    <p:cSldViewPr snapToGrid="0">
      <p:cViewPr varScale="1">
        <p:scale>
          <a:sx n="122" d="100"/>
          <a:sy n="122" d="100"/>
        </p:scale>
        <p:origin x="39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81E2A-5039-B1FC-43BD-F349744EA9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R"/>
          </a:p>
        </p:txBody>
      </p:sp>
      <p:sp>
        <p:nvSpPr>
          <p:cNvPr id="3" name="Subtitle 2">
            <a:extLst>
              <a:ext uri="{FF2B5EF4-FFF2-40B4-BE49-F238E27FC236}">
                <a16:creationId xmlns:a16="http://schemas.microsoft.com/office/drawing/2014/main" id="{B0CF287B-E50C-8B3D-9FCA-E9262D8B3E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R"/>
          </a:p>
        </p:txBody>
      </p:sp>
      <p:sp>
        <p:nvSpPr>
          <p:cNvPr id="4" name="Date Placeholder 3">
            <a:extLst>
              <a:ext uri="{FF2B5EF4-FFF2-40B4-BE49-F238E27FC236}">
                <a16:creationId xmlns:a16="http://schemas.microsoft.com/office/drawing/2014/main" id="{5B4343FA-35D6-3F1A-F3E9-CF2DA317E213}"/>
              </a:ext>
            </a:extLst>
          </p:cNvPr>
          <p:cNvSpPr>
            <a:spLocks noGrp="1"/>
          </p:cNvSpPr>
          <p:nvPr>
            <p:ph type="dt" sz="half" idx="10"/>
          </p:nvPr>
        </p:nvSpPr>
        <p:spPr/>
        <p:txBody>
          <a:bodyPr/>
          <a:lstStyle/>
          <a:p>
            <a:fld id="{FDAF1C79-9A5F-FB41-A7C5-20D80567582E}" type="datetimeFigureOut">
              <a:rPr lang="en-TR" smtClean="0"/>
              <a:t>29.10.2025</a:t>
            </a:fld>
            <a:endParaRPr lang="en-TR"/>
          </a:p>
        </p:txBody>
      </p:sp>
      <p:sp>
        <p:nvSpPr>
          <p:cNvPr id="5" name="Footer Placeholder 4">
            <a:extLst>
              <a:ext uri="{FF2B5EF4-FFF2-40B4-BE49-F238E27FC236}">
                <a16:creationId xmlns:a16="http://schemas.microsoft.com/office/drawing/2014/main" id="{9B720106-CDC6-E20E-722F-936F1CC2EED3}"/>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093A3200-D242-2DE5-F4E6-F9B3590679A1}"/>
              </a:ext>
            </a:extLst>
          </p:cNvPr>
          <p:cNvSpPr>
            <a:spLocks noGrp="1"/>
          </p:cNvSpPr>
          <p:nvPr>
            <p:ph type="sldNum" sz="quarter" idx="12"/>
          </p:nvPr>
        </p:nvSpPr>
        <p:spPr/>
        <p:txBody>
          <a:bodyPr/>
          <a:lstStyle/>
          <a:p>
            <a:fld id="{6D426D23-209B-264D-87A4-2BE7BC2B2033}" type="slidenum">
              <a:rPr lang="en-TR" smtClean="0"/>
              <a:t>‹#›</a:t>
            </a:fld>
            <a:endParaRPr lang="en-TR"/>
          </a:p>
        </p:txBody>
      </p:sp>
    </p:spTree>
    <p:extLst>
      <p:ext uri="{BB962C8B-B14F-4D97-AF65-F5344CB8AC3E}">
        <p14:creationId xmlns:p14="http://schemas.microsoft.com/office/powerpoint/2010/main" val="81682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56A33-5E23-8602-C600-F827B3D157E4}"/>
              </a:ext>
            </a:extLst>
          </p:cNvPr>
          <p:cNvSpPr>
            <a:spLocks noGrp="1"/>
          </p:cNvSpPr>
          <p:nvPr>
            <p:ph type="title"/>
          </p:nvPr>
        </p:nvSpPr>
        <p:spPr/>
        <p:txBody>
          <a:bodyPr/>
          <a:lstStyle/>
          <a:p>
            <a:r>
              <a:rPr lang="en-US"/>
              <a:t>Click to edit Master title style</a:t>
            </a:r>
            <a:endParaRPr lang="en-TR"/>
          </a:p>
        </p:txBody>
      </p:sp>
      <p:sp>
        <p:nvSpPr>
          <p:cNvPr id="3" name="Content Placeholder 2">
            <a:extLst>
              <a:ext uri="{FF2B5EF4-FFF2-40B4-BE49-F238E27FC236}">
                <a16:creationId xmlns:a16="http://schemas.microsoft.com/office/drawing/2014/main" id="{3AEF9204-D85F-311F-1F34-116EEAAC5B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907A7F65-2524-D3C6-673B-67F1B23E1DD0}"/>
              </a:ext>
            </a:extLst>
          </p:cNvPr>
          <p:cNvSpPr>
            <a:spLocks noGrp="1"/>
          </p:cNvSpPr>
          <p:nvPr>
            <p:ph type="dt" sz="half" idx="10"/>
          </p:nvPr>
        </p:nvSpPr>
        <p:spPr/>
        <p:txBody>
          <a:bodyPr/>
          <a:lstStyle/>
          <a:p>
            <a:fld id="{FDAF1C79-9A5F-FB41-A7C5-20D80567582E}" type="datetimeFigureOut">
              <a:rPr lang="en-TR" smtClean="0"/>
              <a:t>29.10.2025</a:t>
            </a:fld>
            <a:endParaRPr lang="en-TR"/>
          </a:p>
        </p:txBody>
      </p:sp>
      <p:sp>
        <p:nvSpPr>
          <p:cNvPr id="5" name="Footer Placeholder 4">
            <a:extLst>
              <a:ext uri="{FF2B5EF4-FFF2-40B4-BE49-F238E27FC236}">
                <a16:creationId xmlns:a16="http://schemas.microsoft.com/office/drawing/2014/main" id="{66C6868B-B727-241A-64FD-DDE5371C7ABD}"/>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1ED9233F-CD10-102E-3888-A2458D226AB7}"/>
              </a:ext>
            </a:extLst>
          </p:cNvPr>
          <p:cNvSpPr>
            <a:spLocks noGrp="1"/>
          </p:cNvSpPr>
          <p:nvPr>
            <p:ph type="sldNum" sz="quarter" idx="12"/>
          </p:nvPr>
        </p:nvSpPr>
        <p:spPr/>
        <p:txBody>
          <a:bodyPr/>
          <a:lstStyle/>
          <a:p>
            <a:fld id="{6D426D23-209B-264D-87A4-2BE7BC2B2033}" type="slidenum">
              <a:rPr lang="en-TR" smtClean="0"/>
              <a:t>‹#›</a:t>
            </a:fld>
            <a:endParaRPr lang="en-TR"/>
          </a:p>
        </p:txBody>
      </p:sp>
    </p:spTree>
    <p:extLst>
      <p:ext uri="{BB962C8B-B14F-4D97-AF65-F5344CB8AC3E}">
        <p14:creationId xmlns:p14="http://schemas.microsoft.com/office/powerpoint/2010/main" val="2460832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028AA-2206-1E91-027B-0A427F1AE6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R"/>
          </a:p>
        </p:txBody>
      </p:sp>
      <p:sp>
        <p:nvSpPr>
          <p:cNvPr id="3" name="Text Placeholder 2">
            <a:extLst>
              <a:ext uri="{FF2B5EF4-FFF2-40B4-BE49-F238E27FC236}">
                <a16:creationId xmlns:a16="http://schemas.microsoft.com/office/drawing/2014/main" id="{77D6A030-4B75-CBE3-504D-F258B24BDA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A52BAD-E158-C04C-6E58-F0A5C514C813}"/>
              </a:ext>
            </a:extLst>
          </p:cNvPr>
          <p:cNvSpPr>
            <a:spLocks noGrp="1"/>
          </p:cNvSpPr>
          <p:nvPr>
            <p:ph type="dt" sz="half" idx="10"/>
          </p:nvPr>
        </p:nvSpPr>
        <p:spPr/>
        <p:txBody>
          <a:bodyPr/>
          <a:lstStyle/>
          <a:p>
            <a:fld id="{FDAF1C79-9A5F-FB41-A7C5-20D80567582E}" type="datetimeFigureOut">
              <a:rPr lang="en-TR" smtClean="0"/>
              <a:t>29.10.2025</a:t>
            </a:fld>
            <a:endParaRPr lang="en-TR"/>
          </a:p>
        </p:txBody>
      </p:sp>
      <p:sp>
        <p:nvSpPr>
          <p:cNvPr id="5" name="Footer Placeholder 4">
            <a:extLst>
              <a:ext uri="{FF2B5EF4-FFF2-40B4-BE49-F238E27FC236}">
                <a16:creationId xmlns:a16="http://schemas.microsoft.com/office/drawing/2014/main" id="{27979929-944E-3988-4D5C-F7E532EECE2F}"/>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3D649A31-7CB1-B064-3A3B-F47D73DABC3C}"/>
              </a:ext>
            </a:extLst>
          </p:cNvPr>
          <p:cNvSpPr>
            <a:spLocks noGrp="1"/>
          </p:cNvSpPr>
          <p:nvPr>
            <p:ph type="sldNum" sz="quarter" idx="12"/>
          </p:nvPr>
        </p:nvSpPr>
        <p:spPr/>
        <p:txBody>
          <a:bodyPr/>
          <a:lstStyle/>
          <a:p>
            <a:fld id="{6D426D23-209B-264D-87A4-2BE7BC2B2033}" type="slidenum">
              <a:rPr lang="en-TR" smtClean="0"/>
              <a:t>‹#›</a:t>
            </a:fld>
            <a:endParaRPr lang="en-TR"/>
          </a:p>
        </p:txBody>
      </p:sp>
    </p:spTree>
    <p:extLst>
      <p:ext uri="{BB962C8B-B14F-4D97-AF65-F5344CB8AC3E}">
        <p14:creationId xmlns:p14="http://schemas.microsoft.com/office/powerpoint/2010/main" val="2898204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5C11C-B9B5-1A98-E5DF-A9D758DF1A9C}"/>
              </a:ext>
            </a:extLst>
          </p:cNvPr>
          <p:cNvSpPr>
            <a:spLocks noGrp="1"/>
          </p:cNvSpPr>
          <p:nvPr>
            <p:ph type="title"/>
          </p:nvPr>
        </p:nvSpPr>
        <p:spPr/>
        <p:txBody>
          <a:bodyPr/>
          <a:lstStyle/>
          <a:p>
            <a:r>
              <a:rPr lang="en-US"/>
              <a:t>Click to edit Master title style</a:t>
            </a:r>
            <a:endParaRPr lang="en-TR"/>
          </a:p>
        </p:txBody>
      </p:sp>
      <p:sp>
        <p:nvSpPr>
          <p:cNvPr id="3" name="Content Placeholder 2">
            <a:extLst>
              <a:ext uri="{FF2B5EF4-FFF2-40B4-BE49-F238E27FC236}">
                <a16:creationId xmlns:a16="http://schemas.microsoft.com/office/drawing/2014/main" id="{7641E927-5748-318E-984F-DC807737E6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Content Placeholder 3">
            <a:extLst>
              <a:ext uri="{FF2B5EF4-FFF2-40B4-BE49-F238E27FC236}">
                <a16:creationId xmlns:a16="http://schemas.microsoft.com/office/drawing/2014/main" id="{9196DC1C-5F19-3003-E7B2-6C8C43A92C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Date Placeholder 4">
            <a:extLst>
              <a:ext uri="{FF2B5EF4-FFF2-40B4-BE49-F238E27FC236}">
                <a16:creationId xmlns:a16="http://schemas.microsoft.com/office/drawing/2014/main" id="{920C7FBB-121D-B24B-B59C-3C88D0DAD578}"/>
              </a:ext>
            </a:extLst>
          </p:cNvPr>
          <p:cNvSpPr>
            <a:spLocks noGrp="1"/>
          </p:cNvSpPr>
          <p:nvPr>
            <p:ph type="dt" sz="half" idx="10"/>
          </p:nvPr>
        </p:nvSpPr>
        <p:spPr/>
        <p:txBody>
          <a:bodyPr/>
          <a:lstStyle/>
          <a:p>
            <a:fld id="{FDAF1C79-9A5F-FB41-A7C5-20D80567582E}" type="datetimeFigureOut">
              <a:rPr lang="en-TR" smtClean="0"/>
              <a:t>29.10.2025</a:t>
            </a:fld>
            <a:endParaRPr lang="en-TR"/>
          </a:p>
        </p:txBody>
      </p:sp>
      <p:sp>
        <p:nvSpPr>
          <p:cNvPr id="6" name="Footer Placeholder 5">
            <a:extLst>
              <a:ext uri="{FF2B5EF4-FFF2-40B4-BE49-F238E27FC236}">
                <a16:creationId xmlns:a16="http://schemas.microsoft.com/office/drawing/2014/main" id="{D5AF4A19-CCFA-61F5-BBC8-06A447693EA1}"/>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D04561E6-AD5D-6458-2C30-21A180A49A3A}"/>
              </a:ext>
            </a:extLst>
          </p:cNvPr>
          <p:cNvSpPr>
            <a:spLocks noGrp="1"/>
          </p:cNvSpPr>
          <p:nvPr>
            <p:ph type="sldNum" sz="quarter" idx="12"/>
          </p:nvPr>
        </p:nvSpPr>
        <p:spPr/>
        <p:txBody>
          <a:bodyPr/>
          <a:lstStyle/>
          <a:p>
            <a:fld id="{6D426D23-209B-264D-87A4-2BE7BC2B2033}" type="slidenum">
              <a:rPr lang="en-TR" smtClean="0"/>
              <a:t>‹#›</a:t>
            </a:fld>
            <a:endParaRPr lang="en-TR"/>
          </a:p>
        </p:txBody>
      </p:sp>
    </p:spTree>
    <p:extLst>
      <p:ext uri="{BB962C8B-B14F-4D97-AF65-F5344CB8AC3E}">
        <p14:creationId xmlns:p14="http://schemas.microsoft.com/office/powerpoint/2010/main" val="39975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7D8D6-06B1-7A26-EC57-9CEAA9F5FADD}"/>
              </a:ext>
            </a:extLst>
          </p:cNvPr>
          <p:cNvSpPr>
            <a:spLocks noGrp="1"/>
          </p:cNvSpPr>
          <p:nvPr>
            <p:ph type="title"/>
          </p:nvPr>
        </p:nvSpPr>
        <p:spPr>
          <a:xfrm>
            <a:off x="839788" y="365125"/>
            <a:ext cx="10515600" cy="1325563"/>
          </a:xfrm>
        </p:spPr>
        <p:txBody>
          <a:bodyPr/>
          <a:lstStyle/>
          <a:p>
            <a:r>
              <a:rPr lang="en-US"/>
              <a:t>Click to edit Master title style</a:t>
            </a:r>
            <a:endParaRPr lang="en-TR"/>
          </a:p>
        </p:txBody>
      </p:sp>
      <p:sp>
        <p:nvSpPr>
          <p:cNvPr id="3" name="Text Placeholder 2">
            <a:extLst>
              <a:ext uri="{FF2B5EF4-FFF2-40B4-BE49-F238E27FC236}">
                <a16:creationId xmlns:a16="http://schemas.microsoft.com/office/drawing/2014/main" id="{1BD3C6FD-1BBF-2338-D72F-B1F7A67359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13F12C-EB20-C742-B4E4-A79AD9897A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Text Placeholder 4">
            <a:extLst>
              <a:ext uri="{FF2B5EF4-FFF2-40B4-BE49-F238E27FC236}">
                <a16:creationId xmlns:a16="http://schemas.microsoft.com/office/drawing/2014/main" id="{0B93DD84-9126-8B86-2FC5-081835481B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8702E5-8698-6783-8119-A3B7ECE65B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7" name="Date Placeholder 6">
            <a:extLst>
              <a:ext uri="{FF2B5EF4-FFF2-40B4-BE49-F238E27FC236}">
                <a16:creationId xmlns:a16="http://schemas.microsoft.com/office/drawing/2014/main" id="{3C84A4C4-6586-3571-F8F9-7BAB5F2878C0}"/>
              </a:ext>
            </a:extLst>
          </p:cNvPr>
          <p:cNvSpPr>
            <a:spLocks noGrp="1"/>
          </p:cNvSpPr>
          <p:nvPr>
            <p:ph type="dt" sz="half" idx="10"/>
          </p:nvPr>
        </p:nvSpPr>
        <p:spPr/>
        <p:txBody>
          <a:bodyPr/>
          <a:lstStyle/>
          <a:p>
            <a:fld id="{FDAF1C79-9A5F-FB41-A7C5-20D80567582E}" type="datetimeFigureOut">
              <a:rPr lang="en-TR" smtClean="0"/>
              <a:t>29.10.2025</a:t>
            </a:fld>
            <a:endParaRPr lang="en-TR"/>
          </a:p>
        </p:txBody>
      </p:sp>
      <p:sp>
        <p:nvSpPr>
          <p:cNvPr id="8" name="Footer Placeholder 7">
            <a:extLst>
              <a:ext uri="{FF2B5EF4-FFF2-40B4-BE49-F238E27FC236}">
                <a16:creationId xmlns:a16="http://schemas.microsoft.com/office/drawing/2014/main" id="{0036018E-F2A2-2ABF-2ADE-D1B32149E7C5}"/>
              </a:ext>
            </a:extLst>
          </p:cNvPr>
          <p:cNvSpPr>
            <a:spLocks noGrp="1"/>
          </p:cNvSpPr>
          <p:nvPr>
            <p:ph type="ftr" sz="quarter" idx="11"/>
          </p:nvPr>
        </p:nvSpPr>
        <p:spPr/>
        <p:txBody>
          <a:bodyPr/>
          <a:lstStyle/>
          <a:p>
            <a:endParaRPr lang="en-TR"/>
          </a:p>
        </p:txBody>
      </p:sp>
      <p:sp>
        <p:nvSpPr>
          <p:cNvPr id="9" name="Slide Number Placeholder 8">
            <a:extLst>
              <a:ext uri="{FF2B5EF4-FFF2-40B4-BE49-F238E27FC236}">
                <a16:creationId xmlns:a16="http://schemas.microsoft.com/office/drawing/2014/main" id="{D27AD2E5-A98C-21E6-8F71-A29BFB4EB213}"/>
              </a:ext>
            </a:extLst>
          </p:cNvPr>
          <p:cNvSpPr>
            <a:spLocks noGrp="1"/>
          </p:cNvSpPr>
          <p:nvPr>
            <p:ph type="sldNum" sz="quarter" idx="12"/>
          </p:nvPr>
        </p:nvSpPr>
        <p:spPr/>
        <p:txBody>
          <a:bodyPr/>
          <a:lstStyle/>
          <a:p>
            <a:fld id="{6D426D23-209B-264D-87A4-2BE7BC2B2033}" type="slidenum">
              <a:rPr lang="en-TR" smtClean="0"/>
              <a:t>‹#›</a:t>
            </a:fld>
            <a:endParaRPr lang="en-TR"/>
          </a:p>
        </p:txBody>
      </p:sp>
    </p:spTree>
    <p:extLst>
      <p:ext uri="{BB962C8B-B14F-4D97-AF65-F5344CB8AC3E}">
        <p14:creationId xmlns:p14="http://schemas.microsoft.com/office/powerpoint/2010/main" val="133595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FA2AD-E975-8FAB-1DB2-215DEFF02C1C}"/>
              </a:ext>
            </a:extLst>
          </p:cNvPr>
          <p:cNvSpPr>
            <a:spLocks noGrp="1"/>
          </p:cNvSpPr>
          <p:nvPr>
            <p:ph type="title"/>
          </p:nvPr>
        </p:nvSpPr>
        <p:spPr/>
        <p:txBody>
          <a:bodyPr/>
          <a:lstStyle/>
          <a:p>
            <a:r>
              <a:rPr lang="en-US"/>
              <a:t>Click to edit Master title style</a:t>
            </a:r>
            <a:endParaRPr lang="en-TR"/>
          </a:p>
        </p:txBody>
      </p:sp>
      <p:sp>
        <p:nvSpPr>
          <p:cNvPr id="3" name="Date Placeholder 2">
            <a:extLst>
              <a:ext uri="{FF2B5EF4-FFF2-40B4-BE49-F238E27FC236}">
                <a16:creationId xmlns:a16="http://schemas.microsoft.com/office/drawing/2014/main" id="{77BA2A2D-ED55-0AF8-C5C0-7E233FD6F04A}"/>
              </a:ext>
            </a:extLst>
          </p:cNvPr>
          <p:cNvSpPr>
            <a:spLocks noGrp="1"/>
          </p:cNvSpPr>
          <p:nvPr>
            <p:ph type="dt" sz="half" idx="10"/>
          </p:nvPr>
        </p:nvSpPr>
        <p:spPr/>
        <p:txBody>
          <a:bodyPr/>
          <a:lstStyle/>
          <a:p>
            <a:fld id="{FDAF1C79-9A5F-FB41-A7C5-20D80567582E}" type="datetimeFigureOut">
              <a:rPr lang="en-TR" smtClean="0"/>
              <a:t>29.10.2025</a:t>
            </a:fld>
            <a:endParaRPr lang="en-TR"/>
          </a:p>
        </p:txBody>
      </p:sp>
      <p:sp>
        <p:nvSpPr>
          <p:cNvPr id="4" name="Footer Placeholder 3">
            <a:extLst>
              <a:ext uri="{FF2B5EF4-FFF2-40B4-BE49-F238E27FC236}">
                <a16:creationId xmlns:a16="http://schemas.microsoft.com/office/drawing/2014/main" id="{B1854033-0480-D1BE-F1A9-8265A97CD9D2}"/>
              </a:ext>
            </a:extLst>
          </p:cNvPr>
          <p:cNvSpPr>
            <a:spLocks noGrp="1"/>
          </p:cNvSpPr>
          <p:nvPr>
            <p:ph type="ftr" sz="quarter" idx="11"/>
          </p:nvPr>
        </p:nvSpPr>
        <p:spPr/>
        <p:txBody>
          <a:bodyPr/>
          <a:lstStyle/>
          <a:p>
            <a:endParaRPr lang="en-TR"/>
          </a:p>
        </p:txBody>
      </p:sp>
      <p:sp>
        <p:nvSpPr>
          <p:cNvPr id="5" name="Slide Number Placeholder 4">
            <a:extLst>
              <a:ext uri="{FF2B5EF4-FFF2-40B4-BE49-F238E27FC236}">
                <a16:creationId xmlns:a16="http://schemas.microsoft.com/office/drawing/2014/main" id="{D943DCC6-5821-BED7-E426-356203C65D1E}"/>
              </a:ext>
            </a:extLst>
          </p:cNvPr>
          <p:cNvSpPr>
            <a:spLocks noGrp="1"/>
          </p:cNvSpPr>
          <p:nvPr>
            <p:ph type="sldNum" sz="quarter" idx="12"/>
          </p:nvPr>
        </p:nvSpPr>
        <p:spPr/>
        <p:txBody>
          <a:bodyPr/>
          <a:lstStyle/>
          <a:p>
            <a:fld id="{6D426D23-209B-264D-87A4-2BE7BC2B2033}" type="slidenum">
              <a:rPr lang="en-TR" smtClean="0"/>
              <a:t>‹#›</a:t>
            </a:fld>
            <a:endParaRPr lang="en-TR"/>
          </a:p>
        </p:txBody>
      </p:sp>
    </p:spTree>
    <p:extLst>
      <p:ext uri="{BB962C8B-B14F-4D97-AF65-F5344CB8AC3E}">
        <p14:creationId xmlns:p14="http://schemas.microsoft.com/office/powerpoint/2010/main" val="3118834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284F47-41D6-4FFB-DEDF-B478CF3B0DEC}"/>
              </a:ext>
            </a:extLst>
          </p:cNvPr>
          <p:cNvSpPr>
            <a:spLocks noGrp="1"/>
          </p:cNvSpPr>
          <p:nvPr>
            <p:ph type="dt" sz="half" idx="10"/>
          </p:nvPr>
        </p:nvSpPr>
        <p:spPr/>
        <p:txBody>
          <a:bodyPr/>
          <a:lstStyle/>
          <a:p>
            <a:fld id="{FDAF1C79-9A5F-FB41-A7C5-20D80567582E}" type="datetimeFigureOut">
              <a:rPr lang="en-TR" smtClean="0"/>
              <a:t>29.10.2025</a:t>
            </a:fld>
            <a:endParaRPr lang="en-TR"/>
          </a:p>
        </p:txBody>
      </p:sp>
      <p:sp>
        <p:nvSpPr>
          <p:cNvPr id="3" name="Footer Placeholder 2">
            <a:extLst>
              <a:ext uri="{FF2B5EF4-FFF2-40B4-BE49-F238E27FC236}">
                <a16:creationId xmlns:a16="http://schemas.microsoft.com/office/drawing/2014/main" id="{C65D0CA2-8084-6C7C-B594-C8B2FB98EE68}"/>
              </a:ext>
            </a:extLst>
          </p:cNvPr>
          <p:cNvSpPr>
            <a:spLocks noGrp="1"/>
          </p:cNvSpPr>
          <p:nvPr>
            <p:ph type="ftr" sz="quarter" idx="11"/>
          </p:nvPr>
        </p:nvSpPr>
        <p:spPr/>
        <p:txBody>
          <a:bodyPr/>
          <a:lstStyle/>
          <a:p>
            <a:endParaRPr lang="en-TR"/>
          </a:p>
        </p:txBody>
      </p:sp>
      <p:sp>
        <p:nvSpPr>
          <p:cNvPr id="4" name="Slide Number Placeholder 3">
            <a:extLst>
              <a:ext uri="{FF2B5EF4-FFF2-40B4-BE49-F238E27FC236}">
                <a16:creationId xmlns:a16="http://schemas.microsoft.com/office/drawing/2014/main" id="{F342A70C-3351-C098-FCC5-48DC451041D8}"/>
              </a:ext>
            </a:extLst>
          </p:cNvPr>
          <p:cNvSpPr>
            <a:spLocks noGrp="1"/>
          </p:cNvSpPr>
          <p:nvPr>
            <p:ph type="sldNum" sz="quarter" idx="12"/>
          </p:nvPr>
        </p:nvSpPr>
        <p:spPr/>
        <p:txBody>
          <a:bodyPr/>
          <a:lstStyle/>
          <a:p>
            <a:fld id="{6D426D23-209B-264D-87A4-2BE7BC2B2033}" type="slidenum">
              <a:rPr lang="en-TR" smtClean="0"/>
              <a:t>‹#›</a:t>
            </a:fld>
            <a:endParaRPr lang="en-TR"/>
          </a:p>
        </p:txBody>
      </p:sp>
    </p:spTree>
    <p:extLst>
      <p:ext uri="{BB962C8B-B14F-4D97-AF65-F5344CB8AC3E}">
        <p14:creationId xmlns:p14="http://schemas.microsoft.com/office/powerpoint/2010/main" val="4209239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2AA2F-D726-0DA5-0009-B81B24EB50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R"/>
          </a:p>
        </p:txBody>
      </p:sp>
      <p:sp>
        <p:nvSpPr>
          <p:cNvPr id="3" name="Content Placeholder 2">
            <a:extLst>
              <a:ext uri="{FF2B5EF4-FFF2-40B4-BE49-F238E27FC236}">
                <a16:creationId xmlns:a16="http://schemas.microsoft.com/office/drawing/2014/main" id="{FA1814B6-863E-493F-D79B-3A809553BC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Text Placeholder 3">
            <a:extLst>
              <a:ext uri="{FF2B5EF4-FFF2-40B4-BE49-F238E27FC236}">
                <a16:creationId xmlns:a16="http://schemas.microsoft.com/office/drawing/2014/main" id="{076B5BF3-21B9-3BDE-9368-11863F91B9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5237A1-FE3C-797C-1811-41061424C931}"/>
              </a:ext>
            </a:extLst>
          </p:cNvPr>
          <p:cNvSpPr>
            <a:spLocks noGrp="1"/>
          </p:cNvSpPr>
          <p:nvPr>
            <p:ph type="dt" sz="half" idx="10"/>
          </p:nvPr>
        </p:nvSpPr>
        <p:spPr/>
        <p:txBody>
          <a:bodyPr/>
          <a:lstStyle/>
          <a:p>
            <a:fld id="{FDAF1C79-9A5F-FB41-A7C5-20D80567582E}" type="datetimeFigureOut">
              <a:rPr lang="en-TR" smtClean="0"/>
              <a:t>29.10.2025</a:t>
            </a:fld>
            <a:endParaRPr lang="en-TR"/>
          </a:p>
        </p:txBody>
      </p:sp>
      <p:sp>
        <p:nvSpPr>
          <p:cNvPr id="6" name="Footer Placeholder 5">
            <a:extLst>
              <a:ext uri="{FF2B5EF4-FFF2-40B4-BE49-F238E27FC236}">
                <a16:creationId xmlns:a16="http://schemas.microsoft.com/office/drawing/2014/main" id="{BEA23921-7661-F189-9FFD-34CA587D56EE}"/>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48921230-FBEA-2FA2-3E7D-F7ECBA5C4DE1}"/>
              </a:ext>
            </a:extLst>
          </p:cNvPr>
          <p:cNvSpPr>
            <a:spLocks noGrp="1"/>
          </p:cNvSpPr>
          <p:nvPr>
            <p:ph type="sldNum" sz="quarter" idx="12"/>
          </p:nvPr>
        </p:nvSpPr>
        <p:spPr/>
        <p:txBody>
          <a:bodyPr/>
          <a:lstStyle/>
          <a:p>
            <a:fld id="{6D426D23-209B-264D-87A4-2BE7BC2B2033}" type="slidenum">
              <a:rPr lang="en-TR" smtClean="0"/>
              <a:t>‹#›</a:t>
            </a:fld>
            <a:endParaRPr lang="en-TR"/>
          </a:p>
        </p:txBody>
      </p:sp>
    </p:spTree>
    <p:extLst>
      <p:ext uri="{BB962C8B-B14F-4D97-AF65-F5344CB8AC3E}">
        <p14:creationId xmlns:p14="http://schemas.microsoft.com/office/powerpoint/2010/main" val="793315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7513E-2010-C30C-715B-B2E6BF054A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R"/>
          </a:p>
        </p:txBody>
      </p:sp>
      <p:sp>
        <p:nvSpPr>
          <p:cNvPr id="3" name="Picture Placeholder 2">
            <a:extLst>
              <a:ext uri="{FF2B5EF4-FFF2-40B4-BE49-F238E27FC236}">
                <a16:creationId xmlns:a16="http://schemas.microsoft.com/office/drawing/2014/main" id="{A0B1291F-BFB1-0D5D-DD62-4311BD188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R"/>
          </a:p>
        </p:txBody>
      </p:sp>
      <p:sp>
        <p:nvSpPr>
          <p:cNvPr id="4" name="Text Placeholder 3">
            <a:extLst>
              <a:ext uri="{FF2B5EF4-FFF2-40B4-BE49-F238E27FC236}">
                <a16:creationId xmlns:a16="http://schemas.microsoft.com/office/drawing/2014/main" id="{C65BA39A-FDB6-848B-B101-1AC5A7C731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1D205A-EBA2-25F7-2096-7A54CB7FC410}"/>
              </a:ext>
            </a:extLst>
          </p:cNvPr>
          <p:cNvSpPr>
            <a:spLocks noGrp="1"/>
          </p:cNvSpPr>
          <p:nvPr>
            <p:ph type="dt" sz="half" idx="10"/>
          </p:nvPr>
        </p:nvSpPr>
        <p:spPr/>
        <p:txBody>
          <a:bodyPr/>
          <a:lstStyle/>
          <a:p>
            <a:fld id="{FDAF1C79-9A5F-FB41-A7C5-20D80567582E}" type="datetimeFigureOut">
              <a:rPr lang="en-TR" smtClean="0"/>
              <a:t>29.10.2025</a:t>
            </a:fld>
            <a:endParaRPr lang="en-TR"/>
          </a:p>
        </p:txBody>
      </p:sp>
      <p:sp>
        <p:nvSpPr>
          <p:cNvPr id="6" name="Footer Placeholder 5">
            <a:extLst>
              <a:ext uri="{FF2B5EF4-FFF2-40B4-BE49-F238E27FC236}">
                <a16:creationId xmlns:a16="http://schemas.microsoft.com/office/drawing/2014/main" id="{71F7AC30-F870-D6CE-DB10-AA50343F58DF}"/>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4CC2A66E-9FFA-4B93-630F-A435B7C1C4C1}"/>
              </a:ext>
            </a:extLst>
          </p:cNvPr>
          <p:cNvSpPr>
            <a:spLocks noGrp="1"/>
          </p:cNvSpPr>
          <p:nvPr>
            <p:ph type="sldNum" sz="quarter" idx="12"/>
          </p:nvPr>
        </p:nvSpPr>
        <p:spPr/>
        <p:txBody>
          <a:bodyPr/>
          <a:lstStyle/>
          <a:p>
            <a:fld id="{6D426D23-209B-264D-87A4-2BE7BC2B2033}" type="slidenum">
              <a:rPr lang="en-TR" smtClean="0"/>
              <a:t>‹#›</a:t>
            </a:fld>
            <a:endParaRPr lang="en-TR"/>
          </a:p>
        </p:txBody>
      </p:sp>
    </p:spTree>
    <p:extLst>
      <p:ext uri="{BB962C8B-B14F-4D97-AF65-F5344CB8AC3E}">
        <p14:creationId xmlns:p14="http://schemas.microsoft.com/office/powerpoint/2010/main" val="3688891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9FBD7-C812-A46E-B6DC-97D5600A276A}"/>
              </a:ext>
            </a:extLst>
          </p:cNvPr>
          <p:cNvSpPr>
            <a:spLocks noGrp="1"/>
          </p:cNvSpPr>
          <p:nvPr>
            <p:ph type="title"/>
          </p:nvPr>
        </p:nvSpPr>
        <p:spPr/>
        <p:txBody>
          <a:bodyPr/>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F02E4EF1-BA3A-41B5-5BEE-2F70F9762B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B7618C38-0895-6422-F563-3EA509600009}"/>
              </a:ext>
            </a:extLst>
          </p:cNvPr>
          <p:cNvSpPr>
            <a:spLocks noGrp="1"/>
          </p:cNvSpPr>
          <p:nvPr>
            <p:ph type="dt" sz="half" idx="10"/>
          </p:nvPr>
        </p:nvSpPr>
        <p:spPr/>
        <p:txBody>
          <a:bodyPr/>
          <a:lstStyle/>
          <a:p>
            <a:fld id="{FDAF1C79-9A5F-FB41-A7C5-20D80567582E}" type="datetimeFigureOut">
              <a:rPr lang="en-TR" smtClean="0"/>
              <a:t>29.10.2025</a:t>
            </a:fld>
            <a:endParaRPr lang="en-TR"/>
          </a:p>
        </p:txBody>
      </p:sp>
      <p:sp>
        <p:nvSpPr>
          <p:cNvPr id="5" name="Footer Placeholder 4">
            <a:extLst>
              <a:ext uri="{FF2B5EF4-FFF2-40B4-BE49-F238E27FC236}">
                <a16:creationId xmlns:a16="http://schemas.microsoft.com/office/drawing/2014/main" id="{38561387-8E9E-4F17-DA6B-E8001DC24F2C}"/>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CC8947AF-05E3-C039-171E-84198D3F96D3}"/>
              </a:ext>
            </a:extLst>
          </p:cNvPr>
          <p:cNvSpPr>
            <a:spLocks noGrp="1"/>
          </p:cNvSpPr>
          <p:nvPr>
            <p:ph type="sldNum" sz="quarter" idx="12"/>
          </p:nvPr>
        </p:nvSpPr>
        <p:spPr/>
        <p:txBody>
          <a:bodyPr/>
          <a:lstStyle/>
          <a:p>
            <a:fld id="{6D426D23-209B-264D-87A4-2BE7BC2B2033}" type="slidenum">
              <a:rPr lang="en-TR" smtClean="0"/>
              <a:t>‹#›</a:t>
            </a:fld>
            <a:endParaRPr lang="en-TR"/>
          </a:p>
        </p:txBody>
      </p:sp>
    </p:spTree>
    <p:extLst>
      <p:ext uri="{BB962C8B-B14F-4D97-AF65-F5344CB8AC3E}">
        <p14:creationId xmlns:p14="http://schemas.microsoft.com/office/powerpoint/2010/main" val="1220976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26AB4B-1019-2243-E6DC-D4940C96F0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13677DC5-9E00-02CD-F652-B207013CD6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DE361CB2-02F8-90D0-8B11-81B304FE77BE}"/>
              </a:ext>
            </a:extLst>
          </p:cNvPr>
          <p:cNvSpPr>
            <a:spLocks noGrp="1"/>
          </p:cNvSpPr>
          <p:nvPr>
            <p:ph type="dt" sz="half" idx="10"/>
          </p:nvPr>
        </p:nvSpPr>
        <p:spPr/>
        <p:txBody>
          <a:bodyPr/>
          <a:lstStyle/>
          <a:p>
            <a:fld id="{FDAF1C79-9A5F-FB41-A7C5-20D80567582E}" type="datetimeFigureOut">
              <a:rPr lang="en-TR" smtClean="0"/>
              <a:t>29.10.2025</a:t>
            </a:fld>
            <a:endParaRPr lang="en-TR"/>
          </a:p>
        </p:txBody>
      </p:sp>
      <p:sp>
        <p:nvSpPr>
          <p:cNvPr id="5" name="Footer Placeholder 4">
            <a:extLst>
              <a:ext uri="{FF2B5EF4-FFF2-40B4-BE49-F238E27FC236}">
                <a16:creationId xmlns:a16="http://schemas.microsoft.com/office/drawing/2014/main" id="{B91F88EC-B8FE-CE0D-18B8-E91CF359BD20}"/>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3302968E-C31B-899E-2334-8A64B32E3FAB}"/>
              </a:ext>
            </a:extLst>
          </p:cNvPr>
          <p:cNvSpPr>
            <a:spLocks noGrp="1"/>
          </p:cNvSpPr>
          <p:nvPr>
            <p:ph type="sldNum" sz="quarter" idx="12"/>
          </p:nvPr>
        </p:nvSpPr>
        <p:spPr/>
        <p:txBody>
          <a:bodyPr/>
          <a:lstStyle/>
          <a:p>
            <a:fld id="{6D426D23-209B-264D-87A4-2BE7BC2B2033}" type="slidenum">
              <a:rPr lang="en-TR" smtClean="0"/>
              <a:t>‹#›</a:t>
            </a:fld>
            <a:endParaRPr lang="en-TR"/>
          </a:p>
        </p:txBody>
      </p:sp>
    </p:spTree>
    <p:extLst>
      <p:ext uri="{BB962C8B-B14F-4D97-AF65-F5344CB8AC3E}">
        <p14:creationId xmlns:p14="http://schemas.microsoft.com/office/powerpoint/2010/main" val="170656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FCAEA0-2376-516D-3F62-2EEA23E2E1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R"/>
          </a:p>
        </p:txBody>
      </p:sp>
      <p:sp>
        <p:nvSpPr>
          <p:cNvPr id="3" name="Text Placeholder 2">
            <a:extLst>
              <a:ext uri="{FF2B5EF4-FFF2-40B4-BE49-F238E27FC236}">
                <a16:creationId xmlns:a16="http://schemas.microsoft.com/office/drawing/2014/main" id="{269432A3-FC1A-78ED-23B4-7833C7713D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BF0D86DB-11B3-FE88-B48F-49DBE97677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AF1C79-9A5F-FB41-A7C5-20D80567582E}" type="datetimeFigureOut">
              <a:rPr lang="en-TR" smtClean="0"/>
              <a:t>29.10.2025</a:t>
            </a:fld>
            <a:endParaRPr lang="en-TR"/>
          </a:p>
        </p:txBody>
      </p:sp>
      <p:sp>
        <p:nvSpPr>
          <p:cNvPr id="5" name="Footer Placeholder 4">
            <a:extLst>
              <a:ext uri="{FF2B5EF4-FFF2-40B4-BE49-F238E27FC236}">
                <a16:creationId xmlns:a16="http://schemas.microsoft.com/office/drawing/2014/main" id="{E7860B18-0E27-B174-B765-2B17AB290E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R"/>
          </a:p>
        </p:txBody>
      </p:sp>
      <p:sp>
        <p:nvSpPr>
          <p:cNvPr id="6" name="Slide Number Placeholder 5">
            <a:extLst>
              <a:ext uri="{FF2B5EF4-FFF2-40B4-BE49-F238E27FC236}">
                <a16:creationId xmlns:a16="http://schemas.microsoft.com/office/drawing/2014/main" id="{0AB22956-4042-F4FD-CD3E-F985F83F55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426D23-209B-264D-87A4-2BE7BC2B2033}" type="slidenum">
              <a:rPr lang="en-TR" smtClean="0"/>
              <a:t>‹#›</a:t>
            </a:fld>
            <a:endParaRPr lang="en-TR"/>
          </a:p>
        </p:txBody>
      </p:sp>
    </p:spTree>
    <p:extLst>
      <p:ext uri="{BB962C8B-B14F-4D97-AF65-F5344CB8AC3E}">
        <p14:creationId xmlns:p14="http://schemas.microsoft.com/office/powerpoint/2010/main" val="1566467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cs.oracle.com/javase/8/docs/api/java/lang/Integer.html" TargetMode="External"/><Relationship Id="rId2" Type="http://schemas.openxmlformats.org/officeDocument/2006/relationships/hyperlink" Target="https://docs.oracle.com/javase/tutorial/java/nutsandbolts/arrays.html" TargetMode="External"/><Relationship Id="rId1" Type="http://schemas.openxmlformats.org/officeDocument/2006/relationships/slideLayout" Target="../slideLayouts/slideLayout2.xml"/><Relationship Id="rId4" Type="http://schemas.openxmlformats.org/officeDocument/2006/relationships/hyperlink" Target="https://docs.oracle.com/javase/8/docs/api/java/lang/Long.html"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docs.oracle.com/javase/8/docs/api/java/math/BigDecimal.html" TargetMode="External"/><Relationship Id="rId2" Type="http://schemas.openxmlformats.org/officeDocument/2006/relationships/hyperlink" Target="https://docs.oracle.com/javase/specs/jls/se7/html/jls-4.html#jls-4.2.3" TargetMode="External"/><Relationship Id="rId1" Type="http://schemas.openxmlformats.org/officeDocument/2006/relationships/slideLayout" Target="../slideLayouts/slideLayout2.xml"/><Relationship Id="rId4" Type="http://schemas.openxmlformats.org/officeDocument/2006/relationships/hyperlink" Target="https://docs.oracle.com/javase/tutorial/java/data/index.html"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D3552-8B88-8014-38F7-AB4B026CA742}"/>
              </a:ext>
            </a:extLst>
          </p:cNvPr>
          <p:cNvSpPr>
            <a:spLocks noGrp="1"/>
          </p:cNvSpPr>
          <p:nvPr>
            <p:ph type="ctrTitle"/>
          </p:nvPr>
        </p:nvSpPr>
        <p:spPr/>
        <p:txBody>
          <a:bodyPr/>
          <a:lstStyle/>
          <a:p>
            <a:r>
              <a:rPr lang="en-US" dirty="0"/>
              <a:t>W</a:t>
            </a:r>
            <a:r>
              <a:rPr lang="en-TR" dirty="0"/>
              <a:t>eek 3</a:t>
            </a:r>
          </a:p>
        </p:txBody>
      </p:sp>
      <p:sp>
        <p:nvSpPr>
          <p:cNvPr id="3" name="Subtitle 2">
            <a:extLst>
              <a:ext uri="{FF2B5EF4-FFF2-40B4-BE49-F238E27FC236}">
                <a16:creationId xmlns:a16="http://schemas.microsoft.com/office/drawing/2014/main" id="{146DEE00-A111-B0B9-E65C-CF7033348312}"/>
              </a:ext>
            </a:extLst>
          </p:cNvPr>
          <p:cNvSpPr>
            <a:spLocks noGrp="1"/>
          </p:cNvSpPr>
          <p:nvPr>
            <p:ph type="subTitle" idx="1"/>
          </p:nvPr>
        </p:nvSpPr>
        <p:spPr/>
        <p:txBody>
          <a:bodyPr/>
          <a:lstStyle/>
          <a:p>
            <a:r>
              <a:rPr lang="en-US" b="1" dirty="0"/>
              <a:t>Variables</a:t>
            </a:r>
          </a:p>
          <a:p>
            <a:r>
              <a:rPr lang="en-US" b="1" dirty="0"/>
              <a:t>Primitive Data Types</a:t>
            </a:r>
          </a:p>
          <a:p>
            <a:r>
              <a:rPr lang="en-US" b="1" dirty="0"/>
              <a:t>Arrays</a:t>
            </a:r>
          </a:p>
          <a:p>
            <a:endParaRPr lang="en-TR" dirty="0"/>
          </a:p>
        </p:txBody>
      </p:sp>
    </p:spTree>
    <p:extLst>
      <p:ext uri="{BB962C8B-B14F-4D97-AF65-F5344CB8AC3E}">
        <p14:creationId xmlns:p14="http://schemas.microsoft.com/office/powerpoint/2010/main" val="1635883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5D6A-AAD4-A864-F453-568B67223959}"/>
              </a:ext>
            </a:extLst>
          </p:cNvPr>
          <p:cNvSpPr>
            <a:spLocks noGrp="1"/>
          </p:cNvSpPr>
          <p:nvPr>
            <p:ph type="title"/>
          </p:nvPr>
        </p:nvSpPr>
        <p:spPr/>
        <p:txBody>
          <a:bodyPr/>
          <a:lstStyle/>
          <a:p>
            <a:r>
              <a:rPr lang="en-US" b="1" dirty="0"/>
              <a:t>Variables</a:t>
            </a:r>
            <a:endParaRPr lang="en-TR" dirty="0"/>
          </a:p>
        </p:txBody>
      </p:sp>
      <p:sp>
        <p:nvSpPr>
          <p:cNvPr id="3" name="Content Placeholder 2">
            <a:extLst>
              <a:ext uri="{FF2B5EF4-FFF2-40B4-BE49-F238E27FC236}">
                <a16:creationId xmlns:a16="http://schemas.microsoft.com/office/drawing/2014/main" id="{64D7FB6E-28C2-79D7-2571-0D3204E81860}"/>
              </a:ext>
            </a:extLst>
          </p:cNvPr>
          <p:cNvSpPr>
            <a:spLocks noGrp="1"/>
          </p:cNvSpPr>
          <p:nvPr>
            <p:ph idx="1"/>
          </p:nvPr>
        </p:nvSpPr>
        <p:spPr/>
        <p:txBody>
          <a:bodyPr>
            <a:normAutofit/>
          </a:bodyPr>
          <a:lstStyle/>
          <a:p>
            <a:r>
              <a:rPr lang="en-US" b="1" dirty="0"/>
              <a:t>Instance Variables (Non-Static Fields)</a:t>
            </a:r>
            <a:r>
              <a:rPr lang="en-US" dirty="0"/>
              <a:t> </a:t>
            </a:r>
          </a:p>
          <a:p>
            <a:r>
              <a:rPr lang="en-US" b="1" dirty="0"/>
              <a:t>Class Variables (Static Fields)</a:t>
            </a:r>
            <a:r>
              <a:rPr lang="en-US" dirty="0"/>
              <a:t> </a:t>
            </a:r>
          </a:p>
          <a:p>
            <a:r>
              <a:rPr lang="en-US" b="1" dirty="0"/>
              <a:t>Local Variables</a:t>
            </a:r>
            <a:r>
              <a:rPr lang="en-US" dirty="0"/>
              <a:t> </a:t>
            </a:r>
          </a:p>
          <a:p>
            <a:r>
              <a:rPr lang="en-US" b="1" dirty="0"/>
              <a:t>Parameters</a:t>
            </a:r>
            <a:r>
              <a:rPr lang="en-US" dirty="0"/>
              <a:t> </a:t>
            </a:r>
            <a:endParaRPr lang="en-TR" dirty="0"/>
          </a:p>
        </p:txBody>
      </p:sp>
    </p:spTree>
    <p:extLst>
      <p:ext uri="{BB962C8B-B14F-4D97-AF65-F5344CB8AC3E}">
        <p14:creationId xmlns:p14="http://schemas.microsoft.com/office/powerpoint/2010/main" val="1189276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E4B24-A7B4-5080-D707-4F4FD64BC424}"/>
              </a:ext>
            </a:extLst>
          </p:cNvPr>
          <p:cNvSpPr>
            <a:spLocks noGrp="1"/>
          </p:cNvSpPr>
          <p:nvPr>
            <p:ph type="title"/>
          </p:nvPr>
        </p:nvSpPr>
        <p:spPr/>
        <p:txBody>
          <a:bodyPr/>
          <a:lstStyle/>
          <a:p>
            <a:r>
              <a:rPr lang="en-US" b="1" dirty="0"/>
              <a:t>Instance Variables (Non-Static Fields)</a:t>
            </a:r>
            <a:r>
              <a:rPr lang="en-US" dirty="0"/>
              <a:t> </a:t>
            </a:r>
            <a:endParaRPr lang="en-TR" dirty="0"/>
          </a:p>
        </p:txBody>
      </p:sp>
      <p:sp>
        <p:nvSpPr>
          <p:cNvPr id="3" name="Content Placeholder 2">
            <a:extLst>
              <a:ext uri="{FF2B5EF4-FFF2-40B4-BE49-F238E27FC236}">
                <a16:creationId xmlns:a16="http://schemas.microsoft.com/office/drawing/2014/main" id="{7A3AB4B7-C682-7FDB-A7A4-B2BEA2618D5E}"/>
              </a:ext>
            </a:extLst>
          </p:cNvPr>
          <p:cNvSpPr>
            <a:spLocks noGrp="1"/>
          </p:cNvSpPr>
          <p:nvPr>
            <p:ph idx="1"/>
          </p:nvPr>
        </p:nvSpPr>
        <p:spPr/>
        <p:txBody>
          <a:bodyPr>
            <a:normAutofit fontScale="92500" lnSpcReduction="20000"/>
          </a:bodyPr>
          <a:lstStyle/>
          <a:p>
            <a:r>
              <a:rPr lang="en-US" b="1" dirty="0"/>
              <a:t>Object Level</a:t>
            </a:r>
            <a:r>
              <a:rPr lang="en-US" dirty="0"/>
              <a:t>: These variables belong not to the class itself, but to each object (instance) created from that class.</a:t>
            </a:r>
            <a:br>
              <a:rPr lang="en-US" dirty="0"/>
            </a:br>
            <a:endParaRPr lang="en-US" dirty="0"/>
          </a:p>
          <a:p>
            <a:r>
              <a:rPr lang="en-US" b="1" dirty="0"/>
              <a:t>Multiple Copies</a:t>
            </a:r>
            <a:r>
              <a:rPr lang="en-US" dirty="0"/>
              <a:t>: No matter how many objects are created from that class, a separate and unique copy of this variable is created in memory for each object.</a:t>
            </a:r>
            <a:br>
              <a:rPr lang="en-US" dirty="0"/>
            </a:br>
            <a:endParaRPr lang="en-US" dirty="0"/>
          </a:p>
          <a:p>
            <a:r>
              <a:rPr lang="en-US" b="1" dirty="0"/>
              <a:t>Independence</a:t>
            </a:r>
            <a:r>
              <a:rPr lang="en-US" dirty="0"/>
              <a:t>: Changing the value of this variable in one object does not affect the value in the copies of other objects.</a:t>
            </a:r>
            <a:br>
              <a:rPr lang="en-US" dirty="0"/>
            </a:br>
            <a:endParaRPr lang="en-US" dirty="0"/>
          </a:p>
          <a:p>
            <a:r>
              <a:rPr lang="en-US" b="1" dirty="0"/>
              <a:t>Access</a:t>
            </a:r>
            <a:r>
              <a:rPr lang="en-US" dirty="0"/>
              <a:t>: To access these fields, an instance of that class must be created (</a:t>
            </a:r>
            <a:r>
              <a:rPr lang="en-US" b="1" dirty="0"/>
              <a:t>objectName</a:t>
            </a:r>
            <a:r>
              <a:rPr lang="en-US" dirty="0"/>
              <a:t>.</a:t>
            </a:r>
            <a:r>
              <a:rPr lang="en-US" b="1" dirty="0"/>
              <a:t>variableName</a:t>
            </a:r>
            <a:r>
              <a:rPr lang="en-US" dirty="0"/>
              <a:t>).</a:t>
            </a:r>
            <a:br>
              <a:rPr lang="en-US" dirty="0"/>
            </a:br>
            <a:endParaRPr lang="en-US" dirty="0"/>
          </a:p>
          <a:p>
            <a:pPr marL="0" indent="0">
              <a:buNone/>
            </a:pPr>
            <a:endParaRPr lang="en-TR" dirty="0"/>
          </a:p>
        </p:txBody>
      </p:sp>
    </p:spTree>
    <p:extLst>
      <p:ext uri="{BB962C8B-B14F-4D97-AF65-F5344CB8AC3E}">
        <p14:creationId xmlns:p14="http://schemas.microsoft.com/office/powerpoint/2010/main" val="1590758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7B20B-7C9F-348A-B517-EE3713FC6B5A}"/>
              </a:ext>
            </a:extLst>
          </p:cNvPr>
          <p:cNvSpPr>
            <a:spLocks noGrp="1"/>
          </p:cNvSpPr>
          <p:nvPr>
            <p:ph type="title"/>
          </p:nvPr>
        </p:nvSpPr>
        <p:spPr/>
        <p:txBody>
          <a:bodyPr/>
          <a:lstStyle/>
          <a:p>
            <a:r>
              <a:rPr lang="en-US" b="1" dirty="0"/>
              <a:t>Class Variables (Static Fields)</a:t>
            </a:r>
            <a:r>
              <a:rPr lang="en-US" dirty="0"/>
              <a:t> </a:t>
            </a:r>
            <a:endParaRPr lang="en-TR" dirty="0"/>
          </a:p>
        </p:txBody>
      </p:sp>
      <p:sp>
        <p:nvSpPr>
          <p:cNvPr id="3" name="Content Placeholder 2">
            <a:extLst>
              <a:ext uri="{FF2B5EF4-FFF2-40B4-BE49-F238E27FC236}">
                <a16:creationId xmlns:a16="http://schemas.microsoft.com/office/drawing/2014/main" id="{37C4F866-3643-D690-586D-889027B8CFCA}"/>
              </a:ext>
            </a:extLst>
          </p:cNvPr>
          <p:cNvSpPr>
            <a:spLocks noGrp="1"/>
          </p:cNvSpPr>
          <p:nvPr>
            <p:ph idx="1"/>
          </p:nvPr>
        </p:nvSpPr>
        <p:spPr/>
        <p:txBody>
          <a:bodyPr>
            <a:normAutofit fontScale="92500" lnSpcReduction="20000"/>
          </a:bodyPr>
          <a:lstStyle/>
          <a:p>
            <a:r>
              <a:rPr lang="en-US" b="1" dirty="0"/>
              <a:t>Class Level</a:t>
            </a:r>
            <a:r>
              <a:rPr lang="en-US" dirty="0"/>
              <a:t>: Static variables belong to the class itself, not to an object (instance).</a:t>
            </a:r>
            <a:br>
              <a:rPr lang="en-US" dirty="0"/>
            </a:br>
            <a:endParaRPr lang="en-US" dirty="0"/>
          </a:p>
          <a:p>
            <a:r>
              <a:rPr lang="en-US" b="1" dirty="0"/>
              <a:t>Single Copy</a:t>
            </a:r>
            <a:r>
              <a:rPr lang="en-US" dirty="0"/>
              <a:t>: No matter how many objects are created from that class, there is only one copy of the static variable in memory.</a:t>
            </a:r>
            <a:br>
              <a:rPr lang="en-US" dirty="0"/>
            </a:br>
            <a:endParaRPr lang="en-US" dirty="0"/>
          </a:p>
          <a:p>
            <a:r>
              <a:rPr lang="en-US" b="1" dirty="0"/>
              <a:t>Sharing</a:t>
            </a:r>
            <a:r>
              <a:rPr lang="en-US" dirty="0"/>
              <a:t>: This single copy is shared and used by all objects of the class. If one object changes the value of this variable, the change applies to all other objects as well.</a:t>
            </a:r>
            <a:br>
              <a:rPr lang="en-US" dirty="0"/>
            </a:br>
            <a:endParaRPr lang="en-US" dirty="0"/>
          </a:p>
          <a:p>
            <a:r>
              <a:rPr lang="en-US" b="1" dirty="0"/>
              <a:t>Access</a:t>
            </a:r>
            <a:r>
              <a:rPr lang="en-US" dirty="0"/>
              <a:t>: They can be accessed directly through the class name without creating an object (</a:t>
            </a:r>
            <a:r>
              <a:rPr lang="en-US" b="1" dirty="0"/>
              <a:t>ClassName</a:t>
            </a:r>
            <a:r>
              <a:rPr lang="en-US" dirty="0"/>
              <a:t>.</a:t>
            </a:r>
            <a:r>
              <a:rPr lang="en-US" b="1" dirty="0"/>
              <a:t>staticVariable</a:t>
            </a:r>
            <a:r>
              <a:rPr lang="en-US" dirty="0"/>
              <a:t>).</a:t>
            </a:r>
            <a:br>
              <a:rPr lang="en-US" dirty="0"/>
            </a:br>
            <a:endParaRPr lang="en-US" dirty="0"/>
          </a:p>
          <a:p>
            <a:pPr marL="0" indent="0">
              <a:buNone/>
            </a:pPr>
            <a:endParaRPr lang="en-TR" dirty="0"/>
          </a:p>
        </p:txBody>
      </p:sp>
    </p:spTree>
    <p:extLst>
      <p:ext uri="{BB962C8B-B14F-4D97-AF65-F5344CB8AC3E}">
        <p14:creationId xmlns:p14="http://schemas.microsoft.com/office/powerpoint/2010/main" val="528229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862DA-FF6A-5CAF-BBCB-B90635AEE986}"/>
              </a:ext>
            </a:extLst>
          </p:cNvPr>
          <p:cNvSpPr>
            <a:spLocks noGrp="1"/>
          </p:cNvSpPr>
          <p:nvPr>
            <p:ph type="title"/>
          </p:nvPr>
        </p:nvSpPr>
        <p:spPr/>
        <p:txBody>
          <a:bodyPr>
            <a:normAutofit/>
          </a:bodyPr>
          <a:lstStyle/>
          <a:p>
            <a:r>
              <a:rPr lang="en-TR" dirty="0"/>
              <a:t>🌟 </a:t>
            </a:r>
            <a:r>
              <a:rPr lang="en-US" b="1" dirty="0"/>
              <a:t>Other Uses of Static Fields</a:t>
            </a:r>
            <a:endParaRPr lang="en-TR" b="1" dirty="0"/>
          </a:p>
        </p:txBody>
      </p:sp>
      <p:sp>
        <p:nvSpPr>
          <p:cNvPr id="3" name="Content Placeholder 2">
            <a:extLst>
              <a:ext uri="{FF2B5EF4-FFF2-40B4-BE49-F238E27FC236}">
                <a16:creationId xmlns:a16="http://schemas.microsoft.com/office/drawing/2014/main" id="{5C293F27-AED5-EBFA-8677-88670F19A1A6}"/>
              </a:ext>
            </a:extLst>
          </p:cNvPr>
          <p:cNvSpPr>
            <a:spLocks noGrp="1"/>
          </p:cNvSpPr>
          <p:nvPr>
            <p:ph idx="1"/>
          </p:nvPr>
        </p:nvSpPr>
        <p:spPr/>
        <p:txBody>
          <a:bodyPr/>
          <a:lstStyle/>
          <a:p>
            <a:endParaRPr lang="en-US" dirty="0"/>
          </a:p>
          <a:p>
            <a:pPr marL="0" indent="0">
              <a:buNone/>
            </a:pPr>
            <a:r>
              <a:rPr lang="en-US" b="1" dirty="0"/>
              <a:t>Constant (static final</a:t>
            </a:r>
            <a:r>
              <a:rPr lang="en-US" dirty="0"/>
              <a:t>): It is used when a value must never change and must be common to all classes. It is usually written in uppercase letters.</a:t>
            </a:r>
          </a:p>
          <a:p>
            <a:pPr marL="0" indent="0">
              <a:buNone/>
            </a:pPr>
            <a:endParaRPr lang="en-TR" dirty="0"/>
          </a:p>
        </p:txBody>
      </p:sp>
    </p:spTree>
    <p:extLst>
      <p:ext uri="{BB962C8B-B14F-4D97-AF65-F5344CB8AC3E}">
        <p14:creationId xmlns:p14="http://schemas.microsoft.com/office/powerpoint/2010/main" val="558328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C51B6-3B64-EDAE-8597-003D5A4C20FB}"/>
              </a:ext>
            </a:extLst>
          </p:cNvPr>
          <p:cNvSpPr>
            <a:spLocks noGrp="1"/>
          </p:cNvSpPr>
          <p:nvPr>
            <p:ph type="title"/>
          </p:nvPr>
        </p:nvSpPr>
        <p:spPr/>
        <p:txBody>
          <a:bodyPr/>
          <a:lstStyle/>
          <a:p>
            <a:r>
              <a:rPr lang="en-US" b="1" dirty="0"/>
              <a:t>Local Variables</a:t>
            </a:r>
            <a:r>
              <a:rPr lang="en-US" dirty="0"/>
              <a:t> </a:t>
            </a:r>
            <a:endParaRPr lang="en-TR" dirty="0"/>
          </a:p>
        </p:txBody>
      </p:sp>
      <p:sp>
        <p:nvSpPr>
          <p:cNvPr id="3" name="Content Placeholder 2">
            <a:extLst>
              <a:ext uri="{FF2B5EF4-FFF2-40B4-BE49-F238E27FC236}">
                <a16:creationId xmlns:a16="http://schemas.microsoft.com/office/drawing/2014/main" id="{AE873B53-7DD9-7528-FF16-96DB7347CC7C}"/>
              </a:ext>
            </a:extLst>
          </p:cNvPr>
          <p:cNvSpPr>
            <a:spLocks noGrp="1"/>
          </p:cNvSpPr>
          <p:nvPr>
            <p:ph idx="1"/>
          </p:nvPr>
        </p:nvSpPr>
        <p:spPr/>
        <p:txBody>
          <a:bodyPr>
            <a:normAutofit fontScale="77500" lnSpcReduction="20000"/>
          </a:bodyPr>
          <a:lstStyle/>
          <a:p>
            <a:pPr marL="0" indent="0">
              <a:buNone/>
            </a:pPr>
            <a:r>
              <a:rPr lang="en-US" dirty="0"/>
              <a:t>Local variables are variables defined within a method, a constructor, or a block of code (such as an if block, a for loop, or a while loop).</a:t>
            </a:r>
          </a:p>
          <a:p>
            <a:pPr marL="0" indent="0">
              <a:buNone/>
            </a:pPr>
            <a:endParaRPr lang="en-TR" dirty="0"/>
          </a:p>
          <a:p>
            <a:r>
              <a:rPr lang="en-US" b="1" dirty="0"/>
              <a:t>Scope</a:t>
            </a:r>
            <a:r>
              <a:rPr lang="en-US" dirty="0"/>
              <a:t>: They can only be used within the method or code block in which they are defined.</a:t>
            </a:r>
            <a:br>
              <a:rPr lang="en-US" dirty="0"/>
            </a:br>
            <a:endParaRPr lang="en-US" dirty="0"/>
          </a:p>
          <a:p>
            <a:r>
              <a:rPr lang="en-US" b="1" dirty="0"/>
              <a:t>Lifetime</a:t>
            </a:r>
            <a:r>
              <a:rPr lang="en-US" dirty="0"/>
              <a:t>: When the method or block finishes executing, these variables are removed from memory and cease to exist.</a:t>
            </a:r>
            <a:br>
              <a:rPr lang="en-US" dirty="0"/>
            </a:br>
            <a:endParaRPr lang="en-US" dirty="0"/>
          </a:p>
          <a:p>
            <a:r>
              <a:rPr lang="en-US" b="1" dirty="0"/>
              <a:t>Initialization</a:t>
            </a:r>
            <a:r>
              <a:rPr lang="en-US" dirty="0"/>
              <a:t>: Unlike static or instance variables, local variables are not automatically assigned a default value by Java. Therefore, they must be assigned a value by the programmer before they can be used.</a:t>
            </a:r>
            <a:br>
              <a:rPr lang="en-US" dirty="0"/>
            </a:br>
            <a:endParaRPr lang="en-US" dirty="0"/>
          </a:p>
          <a:p>
            <a:r>
              <a:rPr lang="en-US" b="1" dirty="0"/>
              <a:t>Access</a:t>
            </a:r>
            <a:r>
              <a:rPr lang="en-US" dirty="0"/>
              <a:t>: They are only accessible within the scope in which they are defined. Other methods of the class or external code cannot see these variables.</a:t>
            </a:r>
          </a:p>
          <a:p>
            <a:endParaRPr lang="en-TR" dirty="0"/>
          </a:p>
          <a:p>
            <a:endParaRPr lang="en-TR" dirty="0"/>
          </a:p>
        </p:txBody>
      </p:sp>
    </p:spTree>
    <p:extLst>
      <p:ext uri="{BB962C8B-B14F-4D97-AF65-F5344CB8AC3E}">
        <p14:creationId xmlns:p14="http://schemas.microsoft.com/office/powerpoint/2010/main" val="3869908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10C2E-72FC-05D3-78DC-49A92C8C5AFE}"/>
              </a:ext>
            </a:extLst>
          </p:cNvPr>
          <p:cNvSpPr>
            <a:spLocks noGrp="1"/>
          </p:cNvSpPr>
          <p:nvPr>
            <p:ph type="title"/>
          </p:nvPr>
        </p:nvSpPr>
        <p:spPr/>
        <p:txBody>
          <a:bodyPr/>
          <a:lstStyle/>
          <a:p>
            <a:r>
              <a:rPr lang="en-US" b="1" dirty="0"/>
              <a:t>Parameters</a:t>
            </a:r>
            <a:endParaRPr lang="en-TR" dirty="0"/>
          </a:p>
        </p:txBody>
      </p:sp>
      <p:sp>
        <p:nvSpPr>
          <p:cNvPr id="3" name="Content Placeholder 2">
            <a:extLst>
              <a:ext uri="{FF2B5EF4-FFF2-40B4-BE49-F238E27FC236}">
                <a16:creationId xmlns:a16="http://schemas.microsoft.com/office/drawing/2014/main" id="{113B6BD5-FB24-1F42-CAE4-9727D429DD46}"/>
              </a:ext>
            </a:extLst>
          </p:cNvPr>
          <p:cNvSpPr>
            <a:spLocks noGrp="1"/>
          </p:cNvSpPr>
          <p:nvPr>
            <p:ph idx="1"/>
          </p:nvPr>
        </p:nvSpPr>
        <p:spPr/>
        <p:txBody>
          <a:bodyPr>
            <a:normAutofit fontScale="77500" lnSpcReduction="20000"/>
          </a:bodyPr>
          <a:lstStyle/>
          <a:p>
            <a:pPr marL="0" indent="0">
              <a:buNone/>
            </a:pPr>
            <a:r>
              <a:rPr lang="en-US" dirty="0"/>
              <a:t>Parameters are variables used to send data to a method from outside. They are specified within parentheses when a method is defined.</a:t>
            </a:r>
          </a:p>
          <a:p>
            <a:pPr marL="0" indent="0">
              <a:buNone/>
            </a:pPr>
            <a:endParaRPr lang="en-US" dirty="0"/>
          </a:p>
          <a:p>
            <a:r>
              <a:rPr lang="en-US" b="1" dirty="0"/>
              <a:t>Definition</a:t>
            </a:r>
            <a:r>
              <a:rPr lang="en-US" dirty="0"/>
              <a:t>: They are part of the method signature (e.g., public void calculate(int a, int b)). Here, a and b are parameters.</a:t>
            </a:r>
            <a:br>
              <a:rPr lang="en-US" dirty="0"/>
            </a:br>
            <a:endParaRPr lang="en-US" dirty="0"/>
          </a:p>
          <a:p>
            <a:r>
              <a:rPr lang="en-US" b="1" dirty="0"/>
              <a:t>Data Input</a:t>
            </a:r>
            <a:r>
              <a:rPr lang="en-US" dirty="0"/>
              <a:t>: The code calling the method provides a value (argument) to the method through these parameters.</a:t>
            </a:r>
            <a:br>
              <a:rPr lang="en-US" dirty="0"/>
            </a:br>
            <a:endParaRPr lang="en-US" dirty="0"/>
          </a:p>
          <a:p>
            <a:r>
              <a:rPr lang="en-US" b="1" dirty="0"/>
              <a:t>Scope</a:t>
            </a:r>
            <a:r>
              <a:rPr lang="en-US" dirty="0"/>
              <a:t>: Parameters are technically a special type of Local Variable defined within the method. Therefore, they can only be used within the body of the method in which they are defined and disappear when the method ends.</a:t>
            </a:r>
            <a:br>
              <a:rPr lang="en-US" dirty="0"/>
            </a:br>
            <a:endParaRPr lang="en-US" dirty="0"/>
          </a:p>
          <a:p>
            <a:r>
              <a:rPr lang="en-US" b="1" dirty="0"/>
              <a:t>Initialization</a:t>
            </a:r>
            <a:r>
              <a:rPr lang="en-US" dirty="0"/>
              <a:t>: Unlike local variables, the programmer does not initialize parameters; the argument value is automatically assigned when the method is called.</a:t>
            </a:r>
          </a:p>
          <a:p>
            <a:endParaRPr lang="en-US" dirty="0"/>
          </a:p>
          <a:p>
            <a:endParaRPr lang="en-TR" dirty="0"/>
          </a:p>
        </p:txBody>
      </p:sp>
    </p:spTree>
    <p:extLst>
      <p:ext uri="{BB962C8B-B14F-4D97-AF65-F5344CB8AC3E}">
        <p14:creationId xmlns:p14="http://schemas.microsoft.com/office/powerpoint/2010/main" val="1592602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E9F3-219D-C9B3-10D0-587F20EA9064}"/>
              </a:ext>
            </a:extLst>
          </p:cNvPr>
          <p:cNvSpPr>
            <a:spLocks noGrp="1"/>
          </p:cNvSpPr>
          <p:nvPr>
            <p:ph type="title"/>
          </p:nvPr>
        </p:nvSpPr>
        <p:spPr/>
        <p:txBody>
          <a:bodyPr/>
          <a:lstStyle/>
          <a:p>
            <a:r>
              <a:rPr lang="en-US" b="1" dirty="0"/>
              <a:t>Naming</a:t>
            </a:r>
            <a:endParaRPr lang="en-TR" dirty="0"/>
          </a:p>
        </p:txBody>
      </p:sp>
      <p:sp>
        <p:nvSpPr>
          <p:cNvPr id="3" name="Content Placeholder 2">
            <a:extLst>
              <a:ext uri="{FF2B5EF4-FFF2-40B4-BE49-F238E27FC236}">
                <a16:creationId xmlns:a16="http://schemas.microsoft.com/office/drawing/2014/main" id="{FCF11DA5-44FE-A5DC-80FD-4EFA92F51115}"/>
              </a:ext>
            </a:extLst>
          </p:cNvPr>
          <p:cNvSpPr>
            <a:spLocks noGrp="1"/>
          </p:cNvSpPr>
          <p:nvPr>
            <p:ph idx="1"/>
          </p:nvPr>
        </p:nvSpPr>
        <p:spPr/>
        <p:txBody>
          <a:bodyPr>
            <a:normAutofit fontScale="92500" lnSpcReduction="20000"/>
          </a:bodyPr>
          <a:lstStyle/>
          <a:p>
            <a:pPr marL="0" indent="0">
              <a:buNone/>
            </a:pPr>
            <a:r>
              <a:rPr lang="en-US" dirty="0"/>
              <a:t>1. </a:t>
            </a:r>
            <a:r>
              <a:rPr lang="en-US" b="1" dirty="0"/>
              <a:t>Valid Characters</a:t>
            </a:r>
          </a:p>
          <a:p>
            <a:pPr marL="457200" lvl="1" indent="0">
              <a:buNone/>
            </a:pPr>
            <a:r>
              <a:rPr lang="en-US" dirty="0"/>
              <a:t>Variable names can only contain the following characters:</a:t>
            </a:r>
          </a:p>
          <a:p>
            <a:pPr lvl="2"/>
            <a:r>
              <a:rPr lang="en-US" dirty="0"/>
              <a:t>Uppercase/lowercase letters (a-z, A-Z)</a:t>
            </a:r>
          </a:p>
          <a:p>
            <a:pPr lvl="2"/>
            <a:r>
              <a:rPr lang="en-US" dirty="0"/>
              <a:t>Numbers (0-9)</a:t>
            </a:r>
          </a:p>
          <a:p>
            <a:pPr lvl="2"/>
            <a:r>
              <a:rPr lang="en-US" dirty="0"/>
              <a:t>Underscore (_)</a:t>
            </a:r>
          </a:p>
          <a:p>
            <a:pPr lvl="2"/>
            <a:r>
              <a:rPr lang="en-US" dirty="0"/>
              <a:t>Dollar sign ($)</a:t>
            </a:r>
          </a:p>
          <a:p>
            <a:pPr marL="0" indent="0">
              <a:buNone/>
            </a:pPr>
            <a:endParaRPr lang="en-US" b="1" dirty="0"/>
          </a:p>
          <a:p>
            <a:pPr marL="0" indent="0">
              <a:buNone/>
            </a:pPr>
            <a:r>
              <a:rPr lang="en-US" b="1" dirty="0"/>
              <a:t>Examples</a:t>
            </a:r>
            <a:r>
              <a:rPr lang="en-US" dirty="0"/>
              <a:t>:</a:t>
            </a:r>
          </a:p>
          <a:p>
            <a:pPr marL="457200" lvl="1" indent="0">
              <a:buNone/>
            </a:pPr>
            <a:r>
              <a:rPr lang="en-TR" dirty="0"/>
              <a:t>✅ </a:t>
            </a:r>
            <a:r>
              <a:rPr lang="en-US" dirty="0" err="1"/>
              <a:t>customerName</a:t>
            </a:r>
            <a:endParaRPr lang="en-US" dirty="0"/>
          </a:p>
          <a:p>
            <a:pPr marL="457200" lvl="1" indent="0">
              <a:buNone/>
            </a:pPr>
            <a:r>
              <a:rPr lang="en-TR" dirty="0"/>
              <a:t>✅ </a:t>
            </a:r>
            <a:r>
              <a:rPr lang="en-US" dirty="0" err="1"/>
              <a:t>total_quantity</a:t>
            </a:r>
            <a:endParaRPr lang="en-US" dirty="0"/>
          </a:p>
          <a:p>
            <a:pPr marL="457200" lvl="1" indent="0">
              <a:buNone/>
            </a:pPr>
            <a:r>
              <a:rPr lang="en-TR" dirty="0"/>
              <a:t>✅ </a:t>
            </a:r>
            <a:r>
              <a:rPr lang="en-US" dirty="0"/>
              <a:t>price$1</a:t>
            </a:r>
          </a:p>
          <a:p>
            <a:pPr marL="457200" lvl="1" indent="0">
              <a:buNone/>
            </a:pPr>
            <a:r>
              <a:rPr lang="en-TR" dirty="0"/>
              <a:t>❌ </a:t>
            </a:r>
            <a:r>
              <a:rPr lang="en-US" dirty="0"/>
              <a:t>product-code (Hyphen - not allowed)</a:t>
            </a:r>
          </a:p>
          <a:p>
            <a:pPr marL="457200" lvl="1" indent="0">
              <a:buNone/>
            </a:pPr>
            <a:r>
              <a:rPr lang="en-TR" dirty="0"/>
              <a:t>❌ 5</a:t>
            </a:r>
            <a:r>
              <a:rPr lang="en-US" dirty="0"/>
              <a:t>year (Cannot start with a number)</a:t>
            </a:r>
          </a:p>
          <a:p>
            <a:pPr marL="0" indent="0">
              <a:buNone/>
            </a:pPr>
            <a:endParaRPr lang="en-TR" dirty="0"/>
          </a:p>
        </p:txBody>
      </p:sp>
    </p:spTree>
    <p:extLst>
      <p:ext uri="{BB962C8B-B14F-4D97-AF65-F5344CB8AC3E}">
        <p14:creationId xmlns:p14="http://schemas.microsoft.com/office/powerpoint/2010/main" val="4186525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C9B4-8663-E47C-F906-C642968755B0}"/>
              </a:ext>
            </a:extLst>
          </p:cNvPr>
          <p:cNvSpPr>
            <a:spLocks noGrp="1"/>
          </p:cNvSpPr>
          <p:nvPr>
            <p:ph type="title"/>
          </p:nvPr>
        </p:nvSpPr>
        <p:spPr/>
        <p:txBody>
          <a:bodyPr/>
          <a:lstStyle/>
          <a:p>
            <a:r>
              <a:rPr lang="en-US" b="1" dirty="0"/>
              <a:t>Naming</a:t>
            </a:r>
            <a:endParaRPr lang="en-TR" dirty="0"/>
          </a:p>
        </p:txBody>
      </p:sp>
      <p:sp>
        <p:nvSpPr>
          <p:cNvPr id="3" name="Content Placeholder 2">
            <a:extLst>
              <a:ext uri="{FF2B5EF4-FFF2-40B4-BE49-F238E27FC236}">
                <a16:creationId xmlns:a16="http://schemas.microsoft.com/office/drawing/2014/main" id="{8599C6BB-92E4-4504-176E-62DB80D31A71}"/>
              </a:ext>
            </a:extLst>
          </p:cNvPr>
          <p:cNvSpPr>
            <a:spLocks noGrp="1"/>
          </p:cNvSpPr>
          <p:nvPr>
            <p:ph idx="1"/>
          </p:nvPr>
        </p:nvSpPr>
        <p:spPr/>
        <p:txBody>
          <a:bodyPr>
            <a:normAutofit/>
          </a:bodyPr>
          <a:lstStyle/>
          <a:p>
            <a:pPr marL="0" indent="0">
              <a:buNone/>
            </a:pPr>
            <a:r>
              <a:rPr lang="en-US" dirty="0"/>
              <a:t>2. </a:t>
            </a:r>
            <a:r>
              <a:rPr lang="en-US" b="1" dirty="0"/>
              <a:t>Initial Characte</a:t>
            </a:r>
            <a:r>
              <a:rPr lang="en-US" dirty="0"/>
              <a:t>r</a:t>
            </a:r>
          </a:p>
          <a:p>
            <a:pPr marL="0" indent="0">
              <a:buNone/>
            </a:pPr>
            <a:r>
              <a:rPr lang="en-US" dirty="0"/>
              <a:t>	 Variable names cannot start with numbers.</a:t>
            </a:r>
          </a:p>
          <a:p>
            <a:pPr marL="0" indent="0">
              <a:buNone/>
            </a:pPr>
            <a:endParaRPr lang="en-US" b="1" dirty="0"/>
          </a:p>
          <a:p>
            <a:pPr marL="0" indent="0">
              <a:buNone/>
            </a:pPr>
            <a:r>
              <a:rPr lang="en-US" b="1" dirty="0"/>
              <a:t>Examples</a:t>
            </a:r>
            <a:r>
              <a:rPr lang="en-US" dirty="0"/>
              <a:t>:</a:t>
            </a:r>
          </a:p>
          <a:p>
            <a:pPr marL="457200" lvl="1" indent="0">
              <a:buNone/>
            </a:pPr>
            <a:r>
              <a:rPr lang="en-TR" dirty="0"/>
              <a:t>✅ _</a:t>
            </a:r>
            <a:r>
              <a:rPr lang="en-US" dirty="0" err="1"/>
              <a:t>validValue</a:t>
            </a:r>
            <a:endParaRPr lang="en-US" dirty="0"/>
          </a:p>
          <a:p>
            <a:pPr marL="457200" lvl="1" indent="0">
              <a:buNone/>
            </a:pPr>
            <a:r>
              <a:rPr lang="en-TR" dirty="0"/>
              <a:t>✅ $</a:t>
            </a:r>
            <a:r>
              <a:rPr lang="en-US" dirty="0"/>
              <a:t>temp</a:t>
            </a:r>
          </a:p>
          <a:p>
            <a:pPr marL="457200" lvl="1" indent="0">
              <a:buNone/>
            </a:pPr>
            <a:r>
              <a:rPr lang="en-TR" dirty="0"/>
              <a:t>❌ 2</a:t>
            </a:r>
            <a:r>
              <a:rPr lang="en-US" dirty="0" err="1"/>
              <a:t>ndDay</a:t>
            </a:r>
            <a:endParaRPr lang="en-US" dirty="0"/>
          </a:p>
          <a:p>
            <a:pPr marL="0" indent="0">
              <a:buNone/>
            </a:pPr>
            <a:endParaRPr lang="en-US" dirty="0"/>
          </a:p>
          <a:p>
            <a:endParaRPr lang="en-TR" dirty="0"/>
          </a:p>
        </p:txBody>
      </p:sp>
    </p:spTree>
    <p:extLst>
      <p:ext uri="{BB962C8B-B14F-4D97-AF65-F5344CB8AC3E}">
        <p14:creationId xmlns:p14="http://schemas.microsoft.com/office/powerpoint/2010/main" val="3788912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A8D85-A4B6-761A-807C-38FD9B9F9917}"/>
              </a:ext>
            </a:extLst>
          </p:cNvPr>
          <p:cNvSpPr>
            <a:spLocks noGrp="1"/>
          </p:cNvSpPr>
          <p:nvPr>
            <p:ph type="title"/>
          </p:nvPr>
        </p:nvSpPr>
        <p:spPr/>
        <p:txBody>
          <a:bodyPr/>
          <a:lstStyle/>
          <a:p>
            <a:r>
              <a:rPr lang="en-US" b="1" dirty="0"/>
              <a:t>Naming</a:t>
            </a:r>
            <a:endParaRPr lang="en-TR" dirty="0"/>
          </a:p>
        </p:txBody>
      </p:sp>
      <p:sp>
        <p:nvSpPr>
          <p:cNvPr id="3" name="Content Placeholder 2">
            <a:extLst>
              <a:ext uri="{FF2B5EF4-FFF2-40B4-BE49-F238E27FC236}">
                <a16:creationId xmlns:a16="http://schemas.microsoft.com/office/drawing/2014/main" id="{D8B41772-8DC2-5AB2-E17C-B69AC171FA1B}"/>
              </a:ext>
            </a:extLst>
          </p:cNvPr>
          <p:cNvSpPr>
            <a:spLocks noGrp="1"/>
          </p:cNvSpPr>
          <p:nvPr>
            <p:ph idx="1"/>
          </p:nvPr>
        </p:nvSpPr>
        <p:spPr/>
        <p:txBody>
          <a:bodyPr/>
          <a:lstStyle/>
          <a:p>
            <a:pPr marL="0" indent="0">
              <a:buNone/>
            </a:pPr>
            <a:r>
              <a:rPr lang="en-US" dirty="0"/>
              <a:t>3. </a:t>
            </a:r>
            <a:r>
              <a:rPr lang="en-US" b="1" dirty="0"/>
              <a:t>Java Keywords</a:t>
            </a:r>
          </a:p>
          <a:p>
            <a:pPr marL="0" indent="0">
              <a:buNone/>
            </a:pPr>
            <a:r>
              <a:rPr lang="en-US" dirty="0"/>
              <a:t>Java's reserved keywords (e.g., public, class, int, static, if, for, while, void) cannot be used as variable names.</a:t>
            </a:r>
          </a:p>
          <a:p>
            <a:pPr marL="0" indent="0">
              <a:buNone/>
            </a:pPr>
            <a:endParaRPr lang="en-US" b="1" dirty="0"/>
          </a:p>
          <a:p>
            <a:pPr marL="0" indent="0">
              <a:buNone/>
            </a:pPr>
            <a:r>
              <a:rPr lang="en-US" b="1" dirty="0"/>
              <a:t>Examples</a:t>
            </a:r>
            <a:r>
              <a:rPr lang="en-US" dirty="0"/>
              <a:t> </a:t>
            </a:r>
            <a:r>
              <a:rPr lang="en-US" b="1" dirty="0"/>
              <a:t>:</a:t>
            </a:r>
            <a:endParaRPr lang="en-US" dirty="0"/>
          </a:p>
          <a:p>
            <a:pPr marL="457200" lvl="1" indent="0">
              <a:buNone/>
            </a:pPr>
            <a:r>
              <a:rPr lang="en-TR" dirty="0"/>
              <a:t>❌ </a:t>
            </a:r>
            <a:r>
              <a:rPr lang="en-US" dirty="0"/>
              <a:t>int class = 10;</a:t>
            </a:r>
          </a:p>
          <a:p>
            <a:pPr marL="457200" lvl="1" indent="0">
              <a:buNone/>
            </a:pPr>
            <a:r>
              <a:rPr lang="en-TR" dirty="0"/>
              <a:t>❌ </a:t>
            </a:r>
            <a:r>
              <a:rPr lang="en-US" dirty="0"/>
              <a:t>String static = ”text";</a:t>
            </a:r>
          </a:p>
          <a:p>
            <a:pPr marL="0" indent="0">
              <a:buNone/>
            </a:pPr>
            <a:endParaRPr lang="en-US" dirty="0"/>
          </a:p>
          <a:p>
            <a:pPr marL="0" indent="0">
              <a:buNone/>
            </a:pPr>
            <a:endParaRPr lang="en-TR" dirty="0"/>
          </a:p>
        </p:txBody>
      </p:sp>
    </p:spTree>
    <p:extLst>
      <p:ext uri="{BB962C8B-B14F-4D97-AF65-F5344CB8AC3E}">
        <p14:creationId xmlns:p14="http://schemas.microsoft.com/office/powerpoint/2010/main" val="472648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1B2DE-97D8-05ED-EB7A-DB06830B5D14}"/>
              </a:ext>
            </a:extLst>
          </p:cNvPr>
          <p:cNvSpPr>
            <a:spLocks noGrp="1"/>
          </p:cNvSpPr>
          <p:nvPr>
            <p:ph type="title"/>
          </p:nvPr>
        </p:nvSpPr>
        <p:spPr/>
        <p:txBody>
          <a:bodyPr/>
          <a:lstStyle/>
          <a:p>
            <a:r>
              <a:rPr lang="en-TR" b="1" dirty="0"/>
              <a:t>Naming</a:t>
            </a:r>
          </a:p>
        </p:txBody>
      </p:sp>
      <p:sp>
        <p:nvSpPr>
          <p:cNvPr id="3" name="Content Placeholder 2">
            <a:extLst>
              <a:ext uri="{FF2B5EF4-FFF2-40B4-BE49-F238E27FC236}">
                <a16:creationId xmlns:a16="http://schemas.microsoft.com/office/drawing/2014/main" id="{0A861954-4BFE-F4F9-196E-684C9ADE75C4}"/>
              </a:ext>
            </a:extLst>
          </p:cNvPr>
          <p:cNvSpPr>
            <a:spLocks noGrp="1"/>
          </p:cNvSpPr>
          <p:nvPr>
            <p:ph idx="1"/>
          </p:nvPr>
        </p:nvSpPr>
        <p:spPr/>
        <p:txBody>
          <a:bodyPr>
            <a:normAutofit/>
          </a:bodyPr>
          <a:lstStyle/>
          <a:p>
            <a:pPr marL="0" indent="0">
              <a:buNone/>
            </a:pPr>
            <a:r>
              <a:rPr lang="en-US" dirty="0"/>
              <a:t>4. </a:t>
            </a:r>
            <a:r>
              <a:rPr lang="en-US" b="1" dirty="0"/>
              <a:t>Case Sensitivity</a:t>
            </a:r>
          </a:p>
          <a:p>
            <a:pPr marL="0" indent="0">
              <a:buNone/>
            </a:pPr>
            <a:r>
              <a:rPr lang="en-US" dirty="0"/>
              <a:t>Java is case-sensitive. Therefore, age and AGE represent two different variables.</a:t>
            </a:r>
          </a:p>
          <a:p>
            <a:pPr marL="0" indent="0">
              <a:buNone/>
            </a:pPr>
            <a:br>
              <a:rPr lang="en-US" dirty="0"/>
            </a:br>
            <a:r>
              <a:rPr lang="en-US" b="1" dirty="0"/>
              <a:t>Examples</a:t>
            </a:r>
            <a:r>
              <a:rPr lang="en-US" dirty="0"/>
              <a:t>:</a:t>
            </a:r>
          </a:p>
          <a:p>
            <a:pPr marL="457200" lvl="1" indent="0">
              <a:buNone/>
            </a:pPr>
            <a:r>
              <a:rPr lang="en-US" dirty="0"/>
              <a:t>int age = 20;</a:t>
            </a:r>
          </a:p>
          <a:p>
            <a:pPr marL="457200" lvl="1" indent="0">
              <a:buNone/>
            </a:pPr>
            <a:r>
              <a:rPr lang="en-US" dirty="0"/>
              <a:t>int AGE = 30;</a:t>
            </a:r>
          </a:p>
          <a:p>
            <a:pPr marL="0" indent="0">
              <a:buNone/>
            </a:pPr>
            <a:r>
              <a:rPr lang="en-US" dirty="0"/>
              <a:t>These are two different variables.</a:t>
            </a:r>
          </a:p>
          <a:p>
            <a:endParaRPr lang="en-TR" dirty="0"/>
          </a:p>
        </p:txBody>
      </p:sp>
    </p:spTree>
    <p:extLst>
      <p:ext uri="{BB962C8B-B14F-4D97-AF65-F5344CB8AC3E}">
        <p14:creationId xmlns:p14="http://schemas.microsoft.com/office/powerpoint/2010/main" val="685988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E5707-5D9A-2651-B42C-DD2A4A0EC94A}"/>
              </a:ext>
            </a:extLst>
          </p:cNvPr>
          <p:cNvSpPr>
            <a:spLocks noGrp="1"/>
          </p:cNvSpPr>
          <p:nvPr>
            <p:ph type="title"/>
          </p:nvPr>
        </p:nvSpPr>
        <p:spPr/>
        <p:txBody>
          <a:bodyPr/>
          <a:lstStyle/>
          <a:p>
            <a:r>
              <a:rPr lang="en-US" b="1" dirty="0"/>
              <a:t>Primitive Data Types</a:t>
            </a:r>
            <a:endParaRPr lang="en-TR" dirty="0"/>
          </a:p>
        </p:txBody>
      </p:sp>
      <p:sp>
        <p:nvSpPr>
          <p:cNvPr id="3" name="Content Placeholder 2">
            <a:extLst>
              <a:ext uri="{FF2B5EF4-FFF2-40B4-BE49-F238E27FC236}">
                <a16:creationId xmlns:a16="http://schemas.microsoft.com/office/drawing/2014/main" id="{455448B6-C42B-5F9F-6B11-2B15F02918C3}"/>
              </a:ext>
            </a:extLst>
          </p:cNvPr>
          <p:cNvSpPr>
            <a:spLocks noGrp="1"/>
          </p:cNvSpPr>
          <p:nvPr>
            <p:ph idx="1"/>
          </p:nvPr>
        </p:nvSpPr>
        <p:spPr/>
        <p:txBody>
          <a:bodyPr>
            <a:normAutofit fontScale="62500" lnSpcReduction="20000"/>
          </a:bodyPr>
          <a:lstStyle/>
          <a:p>
            <a:r>
              <a:rPr lang="en-US" b="1" dirty="0"/>
              <a:t>byte</a:t>
            </a:r>
            <a:r>
              <a:rPr lang="en-US" dirty="0"/>
              <a:t>: The byte data type is an 8-bit signed two's complement integer. It has a minimum value of -128 and a maximum value of 127 (inclusive). The byte data type can be useful for saving memory in large </a:t>
            </a:r>
            <a:r>
              <a:rPr lang="en-US" dirty="0">
                <a:hlinkClick r:id="rId2"/>
              </a:rPr>
              <a:t>arrays</a:t>
            </a:r>
            <a:r>
              <a:rPr lang="en-US" dirty="0"/>
              <a:t>, where the memory savings actually matters. They can also be used in place of int where their limits help to clarify your code; the fact that a variable's range is limited can serve as a form of documentation.</a:t>
            </a:r>
          </a:p>
          <a:p>
            <a:r>
              <a:rPr lang="en-US" b="1" dirty="0"/>
              <a:t>short</a:t>
            </a:r>
            <a:r>
              <a:rPr lang="en-US" dirty="0"/>
              <a:t>: The short data type is a 16-bit signed two's complement integer. It has a minimum value of -32,768 and a maximum value of 32,767 (inclusive). As with byte, the same guidelines apply: you can use a short to save memory in large arrays, in situations where the memory savings actually matters.</a:t>
            </a:r>
          </a:p>
          <a:p>
            <a:r>
              <a:rPr lang="en-US" b="1" dirty="0"/>
              <a:t>int</a:t>
            </a:r>
            <a:r>
              <a:rPr lang="en-US" dirty="0"/>
              <a:t>: By default, the int data type is a 32-bit signed two's complement integer, which has a minimum value of -2</a:t>
            </a:r>
            <a:r>
              <a:rPr lang="en-US" baseline="30000" dirty="0"/>
              <a:t>31</a:t>
            </a:r>
            <a:r>
              <a:rPr lang="en-US" dirty="0"/>
              <a:t> and a maximum value of 2</a:t>
            </a:r>
            <a:r>
              <a:rPr lang="en-US" baseline="30000" dirty="0"/>
              <a:t>31</a:t>
            </a:r>
            <a:r>
              <a:rPr lang="en-US" dirty="0"/>
              <a:t>-1. In Java SE 8 and later, you can use the int data type to represent an unsigned 32-bit integer, which has a minimum value of 0 and a maximum value of 2</a:t>
            </a:r>
            <a:r>
              <a:rPr lang="en-US" baseline="30000" dirty="0"/>
              <a:t>32</a:t>
            </a:r>
            <a:r>
              <a:rPr lang="en-US" dirty="0"/>
              <a:t>-1. Use the Integer class to use int data type as an unsigned integer. See the section The Number Classes for more information. Static methods like </a:t>
            </a:r>
            <a:r>
              <a:rPr lang="en-US" dirty="0" err="1"/>
              <a:t>compareUnsigned</a:t>
            </a:r>
            <a:r>
              <a:rPr lang="en-US" dirty="0"/>
              <a:t>, </a:t>
            </a:r>
            <a:r>
              <a:rPr lang="en-US" dirty="0" err="1"/>
              <a:t>divideUnsigned</a:t>
            </a:r>
            <a:r>
              <a:rPr lang="en-US" dirty="0"/>
              <a:t> </a:t>
            </a:r>
            <a:r>
              <a:rPr lang="en-US" dirty="0" err="1"/>
              <a:t>etc</a:t>
            </a:r>
            <a:r>
              <a:rPr lang="en-US" dirty="0"/>
              <a:t> have been added to the </a:t>
            </a:r>
            <a:r>
              <a:rPr lang="en-US" dirty="0">
                <a:hlinkClick r:id="rId3"/>
              </a:rPr>
              <a:t>Integer</a:t>
            </a:r>
            <a:r>
              <a:rPr lang="en-US" dirty="0"/>
              <a:t> class to support the arithmetic operations for unsigned integers.</a:t>
            </a:r>
          </a:p>
          <a:p>
            <a:r>
              <a:rPr lang="en-US" b="1" dirty="0"/>
              <a:t>long</a:t>
            </a:r>
            <a:r>
              <a:rPr lang="en-US" dirty="0"/>
              <a:t>: The long data type is a 64-bit two's complement integer. The signed long has a minimum value of -2</a:t>
            </a:r>
            <a:r>
              <a:rPr lang="en-US" baseline="30000" dirty="0"/>
              <a:t>63</a:t>
            </a:r>
            <a:r>
              <a:rPr lang="en-US" dirty="0"/>
              <a:t> and a maximum value of 2</a:t>
            </a:r>
            <a:r>
              <a:rPr lang="en-US" baseline="30000" dirty="0"/>
              <a:t>63</a:t>
            </a:r>
            <a:r>
              <a:rPr lang="en-US" dirty="0"/>
              <a:t>-1. In Java SE 8 and later, you can use the long data type to represent an unsigned 64-bit long, which has a minimum value of 0 and a maximum value of 2</a:t>
            </a:r>
            <a:r>
              <a:rPr lang="en-US" baseline="30000" dirty="0"/>
              <a:t>64</a:t>
            </a:r>
            <a:r>
              <a:rPr lang="en-US" dirty="0"/>
              <a:t>-1. Use this data type when you need a range of values wider than those provided by int. The </a:t>
            </a:r>
            <a:r>
              <a:rPr lang="en-US" dirty="0">
                <a:hlinkClick r:id="rId4"/>
              </a:rPr>
              <a:t>Long</a:t>
            </a:r>
            <a:r>
              <a:rPr lang="en-US" dirty="0"/>
              <a:t> class also contains methods like </a:t>
            </a:r>
            <a:r>
              <a:rPr lang="en-US" dirty="0" err="1"/>
              <a:t>compareUnsigned</a:t>
            </a:r>
            <a:r>
              <a:rPr lang="en-US" dirty="0"/>
              <a:t>, </a:t>
            </a:r>
            <a:r>
              <a:rPr lang="en-US" dirty="0" err="1"/>
              <a:t>divideUnsigned</a:t>
            </a:r>
            <a:r>
              <a:rPr lang="en-US" dirty="0"/>
              <a:t> </a:t>
            </a:r>
            <a:r>
              <a:rPr lang="en-US" dirty="0" err="1"/>
              <a:t>etc</a:t>
            </a:r>
            <a:r>
              <a:rPr lang="en-US" dirty="0"/>
              <a:t> to support arithmetic operations for unsigned long.</a:t>
            </a:r>
          </a:p>
        </p:txBody>
      </p:sp>
    </p:spTree>
    <p:extLst>
      <p:ext uri="{BB962C8B-B14F-4D97-AF65-F5344CB8AC3E}">
        <p14:creationId xmlns:p14="http://schemas.microsoft.com/office/powerpoint/2010/main" val="3511232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C2296-F6F7-6315-9748-D7C71C1F79B7}"/>
              </a:ext>
            </a:extLst>
          </p:cNvPr>
          <p:cNvSpPr>
            <a:spLocks noGrp="1"/>
          </p:cNvSpPr>
          <p:nvPr>
            <p:ph type="title"/>
          </p:nvPr>
        </p:nvSpPr>
        <p:spPr/>
        <p:txBody>
          <a:bodyPr/>
          <a:lstStyle/>
          <a:p>
            <a:r>
              <a:rPr lang="en-US" b="1" dirty="0"/>
              <a:t>Primitive Data Types</a:t>
            </a:r>
            <a:endParaRPr lang="en-TR" dirty="0"/>
          </a:p>
        </p:txBody>
      </p:sp>
      <p:sp>
        <p:nvSpPr>
          <p:cNvPr id="3" name="Content Placeholder 2">
            <a:extLst>
              <a:ext uri="{FF2B5EF4-FFF2-40B4-BE49-F238E27FC236}">
                <a16:creationId xmlns:a16="http://schemas.microsoft.com/office/drawing/2014/main" id="{DF9F9DA7-D54F-5B97-7909-C793B92EE127}"/>
              </a:ext>
            </a:extLst>
          </p:cNvPr>
          <p:cNvSpPr>
            <a:spLocks noGrp="1"/>
          </p:cNvSpPr>
          <p:nvPr>
            <p:ph idx="1"/>
          </p:nvPr>
        </p:nvSpPr>
        <p:spPr/>
        <p:txBody>
          <a:bodyPr>
            <a:normAutofit fontScale="70000" lnSpcReduction="20000"/>
          </a:bodyPr>
          <a:lstStyle/>
          <a:p>
            <a:r>
              <a:rPr lang="en-US" b="1" dirty="0"/>
              <a:t>float</a:t>
            </a:r>
            <a:r>
              <a:rPr lang="en-US" dirty="0"/>
              <a:t>: The float data type is a single-precision 32-bit IEEE 754 floating point. Its range of values is beyond the scope of this discussion, but is specified in the </a:t>
            </a:r>
            <a:r>
              <a:rPr lang="en-US" dirty="0">
                <a:hlinkClick r:id="rId2"/>
              </a:rPr>
              <a:t>Floating-Point Types, Formats, and Values</a:t>
            </a:r>
            <a:r>
              <a:rPr lang="en-US" dirty="0"/>
              <a:t> section of the Java Language Specification. As with the recommendations for byte and short, use a float (instead of double) if you need to save memory in large arrays of floating point numbers. This data type should never be used for precise values, such as currency. For that, you will need to use the </a:t>
            </a:r>
            <a:r>
              <a:rPr lang="en-US" dirty="0">
                <a:hlinkClick r:id="rId3"/>
              </a:rPr>
              <a:t>java.math.BigDecimal</a:t>
            </a:r>
            <a:r>
              <a:rPr lang="en-US" dirty="0"/>
              <a:t> class instead. </a:t>
            </a:r>
            <a:r>
              <a:rPr lang="en-US" dirty="0">
                <a:hlinkClick r:id="rId4"/>
              </a:rPr>
              <a:t>Numbers and Strings</a:t>
            </a:r>
            <a:r>
              <a:rPr lang="en-US" dirty="0"/>
              <a:t> covers </a:t>
            </a:r>
            <a:r>
              <a:rPr lang="en-US" dirty="0" err="1"/>
              <a:t>BigDecimal</a:t>
            </a:r>
            <a:r>
              <a:rPr lang="en-US" dirty="0"/>
              <a:t> and other useful classes provided by the Java platform.</a:t>
            </a:r>
          </a:p>
          <a:p>
            <a:r>
              <a:rPr lang="en-US" b="1" dirty="0"/>
              <a:t>double</a:t>
            </a:r>
            <a:r>
              <a:rPr lang="en-US" dirty="0"/>
              <a:t>: The double data type is a double-precision 64-bit IEEE 754 floating point. Its range of values is beyond the scope of this discussion, but is specified in the </a:t>
            </a:r>
            <a:r>
              <a:rPr lang="en-US" dirty="0">
                <a:hlinkClick r:id="rId2"/>
              </a:rPr>
              <a:t>Floating-Point Types, Formats, and Values</a:t>
            </a:r>
            <a:r>
              <a:rPr lang="en-US" dirty="0"/>
              <a:t> section of the Java Language Specification. For decimal values, this data type is generally the default choice. As mentioned above, this data type should never be used for precise values, such as currency.</a:t>
            </a:r>
          </a:p>
          <a:p>
            <a:r>
              <a:rPr lang="en-US" b="1" dirty="0" err="1"/>
              <a:t>boolean</a:t>
            </a:r>
            <a:r>
              <a:rPr lang="en-US" dirty="0"/>
              <a:t>: The </a:t>
            </a:r>
            <a:r>
              <a:rPr lang="en-US" dirty="0" err="1"/>
              <a:t>boolean</a:t>
            </a:r>
            <a:r>
              <a:rPr lang="en-US" dirty="0"/>
              <a:t> data type has only two possible values: true and false. Use this data type for simple flags that track true/false conditions. This data type represents one bit of information, but its "size" isn't something that's precisely defined.</a:t>
            </a:r>
          </a:p>
          <a:p>
            <a:r>
              <a:rPr lang="en-US" b="1" dirty="0"/>
              <a:t>char</a:t>
            </a:r>
            <a:r>
              <a:rPr lang="en-US" dirty="0"/>
              <a:t>: The char data type is a single 16-bit Unicode character. It has a minimum value of '\u0000' (or 0) and a maximum value of '\</a:t>
            </a:r>
            <a:r>
              <a:rPr lang="en-US" dirty="0" err="1"/>
              <a:t>uffff</a:t>
            </a:r>
            <a:r>
              <a:rPr lang="en-US" dirty="0"/>
              <a:t>' (or 65,535 inclusive).</a:t>
            </a:r>
          </a:p>
          <a:p>
            <a:endParaRPr lang="en-TR" dirty="0"/>
          </a:p>
        </p:txBody>
      </p:sp>
    </p:spTree>
    <p:extLst>
      <p:ext uri="{BB962C8B-B14F-4D97-AF65-F5344CB8AC3E}">
        <p14:creationId xmlns:p14="http://schemas.microsoft.com/office/powerpoint/2010/main" val="787595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D8E8D-1311-0EAB-1035-8AD746A2B49A}"/>
              </a:ext>
            </a:extLst>
          </p:cNvPr>
          <p:cNvSpPr>
            <a:spLocks noGrp="1"/>
          </p:cNvSpPr>
          <p:nvPr>
            <p:ph type="title"/>
          </p:nvPr>
        </p:nvSpPr>
        <p:spPr/>
        <p:txBody>
          <a:bodyPr/>
          <a:lstStyle/>
          <a:p>
            <a:r>
              <a:rPr lang="en-TR" b="1" dirty="0"/>
              <a:t>Array</a:t>
            </a:r>
          </a:p>
        </p:txBody>
      </p:sp>
      <p:sp>
        <p:nvSpPr>
          <p:cNvPr id="4" name="Content Placeholder 3">
            <a:extLst>
              <a:ext uri="{FF2B5EF4-FFF2-40B4-BE49-F238E27FC236}">
                <a16:creationId xmlns:a16="http://schemas.microsoft.com/office/drawing/2014/main" id="{267CC8CA-3AFB-5C9F-59E4-1F5D73E7E09D}"/>
              </a:ext>
            </a:extLst>
          </p:cNvPr>
          <p:cNvSpPr>
            <a:spLocks noGrp="1"/>
          </p:cNvSpPr>
          <p:nvPr>
            <p:ph idx="1"/>
          </p:nvPr>
        </p:nvSpPr>
        <p:spPr>
          <a:xfrm>
            <a:off x="392017" y="1825624"/>
            <a:ext cx="10961783" cy="4667251"/>
          </a:xfrm>
        </p:spPr>
        <p:txBody>
          <a:bodyPr/>
          <a:lstStyle/>
          <a:p>
            <a:r>
              <a:rPr lang="en-US" dirty="0"/>
              <a:t>An </a:t>
            </a:r>
            <a:r>
              <a:rPr lang="en-US" i="1" dirty="0"/>
              <a:t>array</a:t>
            </a:r>
            <a:r>
              <a:rPr lang="en-US" dirty="0"/>
              <a:t> is a container object that holds a fixed number of values of a single type. The length of an array is established when the array is created. After creation, its length is fixed. </a:t>
            </a:r>
          </a:p>
          <a:p>
            <a:pPr marL="0" indent="0">
              <a:buNone/>
            </a:pPr>
            <a:endParaRPr lang="en-US" dirty="0"/>
          </a:p>
          <a:p>
            <a:pPr marL="0" indent="0">
              <a:buNone/>
            </a:pPr>
            <a:endParaRPr lang="en-TR" dirty="0"/>
          </a:p>
        </p:txBody>
      </p:sp>
      <p:pic>
        <p:nvPicPr>
          <p:cNvPr id="1030" name="Picture 6" descr="Illustration of an array as 10 boxes numbered 0 through 9; an index of 0 indicates the first element in the array">
            <a:extLst>
              <a:ext uri="{FF2B5EF4-FFF2-40B4-BE49-F238E27FC236}">
                <a16:creationId xmlns:a16="http://schemas.microsoft.com/office/drawing/2014/main" id="{A79C6BBC-357D-2884-9D8E-8C811E4143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6133" y="3229428"/>
            <a:ext cx="6979733" cy="2583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563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6A59F-3D64-4CF1-6DBF-B5853BCE87D6}"/>
              </a:ext>
            </a:extLst>
          </p:cNvPr>
          <p:cNvSpPr>
            <a:spLocks noGrp="1"/>
          </p:cNvSpPr>
          <p:nvPr>
            <p:ph type="title"/>
          </p:nvPr>
        </p:nvSpPr>
        <p:spPr/>
        <p:txBody>
          <a:bodyPr/>
          <a:lstStyle/>
          <a:p>
            <a:endParaRPr lang="en-TR"/>
          </a:p>
        </p:txBody>
      </p:sp>
      <p:sp>
        <p:nvSpPr>
          <p:cNvPr id="3" name="Content Placeholder 2">
            <a:extLst>
              <a:ext uri="{FF2B5EF4-FFF2-40B4-BE49-F238E27FC236}">
                <a16:creationId xmlns:a16="http://schemas.microsoft.com/office/drawing/2014/main" id="{E2EBA6B3-4288-1F7A-589A-877D9C800B6F}"/>
              </a:ext>
            </a:extLst>
          </p:cNvPr>
          <p:cNvSpPr>
            <a:spLocks noGrp="1"/>
          </p:cNvSpPr>
          <p:nvPr>
            <p:ph idx="1"/>
          </p:nvPr>
        </p:nvSpPr>
        <p:spPr/>
        <p:txBody>
          <a:bodyPr/>
          <a:lstStyle/>
          <a:p>
            <a:endParaRPr lang="en-TR"/>
          </a:p>
        </p:txBody>
      </p:sp>
    </p:spTree>
    <p:extLst>
      <p:ext uri="{BB962C8B-B14F-4D97-AF65-F5344CB8AC3E}">
        <p14:creationId xmlns:p14="http://schemas.microsoft.com/office/powerpoint/2010/main" val="18094698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7274</TotalTime>
  <Words>1443</Words>
  <Application>Microsoft Macintosh PowerPoint</Application>
  <PresentationFormat>Widescreen</PresentationFormat>
  <Paragraphs>84</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Week 3</vt:lpstr>
      <vt:lpstr>Variables</vt:lpstr>
      <vt:lpstr>Instance Variables (Non-Static Fields) </vt:lpstr>
      <vt:lpstr>Class Variables (Static Fields) </vt:lpstr>
      <vt:lpstr>🌟 Other Uses of Static Fields</vt:lpstr>
      <vt:lpstr>Local Variables </vt:lpstr>
      <vt:lpstr>Parameters</vt:lpstr>
      <vt:lpstr>Naming</vt:lpstr>
      <vt:lpstr>Naming</vt:lpstr>
      <vt:lpstr>Naming</vt:lpstr>
      <vt:lpstr>Naming</vt:lpstr>
      <vt:lpstr>Primitive Data Types</vt:lpstr>
      <vt:lpstr>Primitive Data Types</vt:lpstr>
      <vt:lpstr>Array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Süleyman Kahraman</dc:creator>
  <cp:lastModifiedBy>Süleyman Kahraman</cp:lastModifiedBy>
  <cp:revision>1</cp:revision>
  <dcterms:created xsi:type="dcterms:W3CDTF">2025-10-29T18:08:00Z</dcterms:created>
  <dcterms:modified xsi:type="dcterms:W3CDTF">2025-11-03T19:22:29Z</dcterms:modified>
</cp:coreProperties>
</file>